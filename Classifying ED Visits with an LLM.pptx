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data are at https://github.com/bja2376/triage-llm-tutorial The idea here is pretty simple. Can a small model running on my laptop look at just the triage record and guess what kind of diagnosis the ED ends up giving? I tried three prompting techniques on the same visits and scored each one against what the ED actually recorded. It all runs on the open MIMIC-IV-ED demo, so you don't need a PhysioNet account to follow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triage record is basically the first structured note you get in an ED visit. It has the chief complaint, vitals, pain score, how the patient arrived and the ESI acuity, where 1 is the most urgent and 5 is the least. The diagnosis on the right doesn't get recorded until hours later, after labs and imaging and an exam. I wanted to see whether a model could give a rough category up front. That would only ever be a suggestion for a clinician to check. This is a real stay from the demo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for the rest of the deck. The seven steps line up with the numbered sections in the notebook, so you can follow along cell by cell. Steps 1 to 4 are setup and data prep. Step 5 is where the actual LLM work happens, so it gets four slides. Steps 6 and 7 are scoring and results. I'm hoping you walk away with a workflow you can reuse on other MIMIC tables, not just one accuracy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wanted this to build on the course instead of just repeating it. From the course - Zero-shot, few-shot and chain-of-thought prompting (Module 13, Practices 1–2) - Checking JSON output with Pydantic (Practice 2) New here - The MIMIC-IV-ED triage table, which we didn't use in class - Actually measuring whether each technique helps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gets the code and a Python environment onto your machine. Ollama is on the next slide. You'll need git and Python 3 installed first. The demo CSVs are already in the repo under data since the license allows it, so cloning is the only download. Make the virtual environment inside the repo folder so the notebook installs packages into it. If you use uv, add --seed or you won't have pip and the install cell will fail. I learned that one the hard way. In VS Code, open the repo folder and pick the .venv kernel.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Ollama is what actually runs the model on your laptop. The notebook talks to it through the ollama Python package. On Mac and Windows the installer runs it in the background as an app, and on Linux the script sets it up as a service. You don't have to pull the model ahead of time, but I'd do it so you can watch the 2 GB download finish before you start. A full run takes about 10 minutes, and most of that is chain-of-thought. If anything hangs, check that Ollama is still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running the model locally because the MIMIC data use agreement doesn't let you send records to an outside API like ChatGPT. A nice side effect is that the same code would work on the full credentialed data. The config cell is the only place you should need to change anything. MODEL picks the model, N_CASES caps how many stays get scored and SEED keeps runs repeatable. The printed details let you check that you pulled the same weights I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build one row per ED stay from five demo tables. What you know at triage isn't only in the triage table, so sex and arrival transport come from edstays and age comes from patients. The label is the primary diagnosis, which is the one with seq_num 1. I leave out disposition, outtime, hadm_id and the other diagnoses because they're recorded later and would give the answer away. Age is approximate since anchor_age is the patient's age in their anchor year. The valid_icd10 set is what step 6 checks the model's codes against. Picking the columns before each merge also keeps pandas from creating duplicate subject_id and gender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score at the chapter level because guessing the exact code from a triage record is way too fine-grained. The 22 chapters are the standard top-level grouping in ICD-10-CM. The function takes the first three characters of a code and finds which chapter range they fall in. Anything that doesn't look like a real code comes back as Unknown. I only keep ICD-10 stays because that's what the model answers in. Symptoms &amp; signs is 41 of the 122 stays here and 24 of the 94 I score, so just guessing it every time gets you 26%. Keep that number in mind for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turns each triage row into a few lines of text, which is the same table-to-prompt idea from the CancerGPT paper in Module 13. The show helper writes "not recorded" for anything missing, since a raw "nan" doesn't mean anything to the model. The test cell builds a row with a missing temperature and checks that "nan" never shows up. Every prompt in step 5 goes through this same function, so the technique is the only thing that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code, here's how the three techniques differ. They all share the same system message, which asks for the most likely ED diagnosis and its ICD-10 code in JSON. Zero-shot just sends the triage summary. Few-shot adds three solved stays as earlier turns in the chat. Chain-of-thought asks the model to reason step by step first. I compared each one against zero-shot instead of stacking them, so if a score changes you know which technique caused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examples are picked by a fixed rule, which is the first stay from each of the three most common chapters. That way anyone who reruns it gets the same examples. Then I drop every stay from those three patients, not just the example stays, so the model never gets scored on a patient it's already seen. That leaves 94 stays from 29 patients. If your counts are different, check that you didn't change N_CASES or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function builds every prompt, which keeps the comparison fair. Every technique starts with the same system message. For few-shot, each example goes in as a user turn with the triage summary and then an assistant turn with the real ED answer in our JSON format. Chain-of-thought just tacks on one sentence asking the model to reason first, and zero-shot doesn't add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sends one prompt to the local model and checks what comes back. Passing the Pydantic schema to format= makes Ollama return JSON in that shape, and then Pydantic validates it. In the chain-of-thought schema, reasoning comes first so the model has to write it out before it commits to an answer. Temperature 0 and a fixed seed keep things repeatable. num_predict caps the length because small models can get stuck looping in JSON mode. If an answer doesn't validate, I count it as wrong rather than dropping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runs every technique over the same 94 stays in the same order, which is what makes the accuracies comparable. It saves one row per answer, so you end up with 282 rows. Zero-shot and few-shot take about a minute each. Chain-of-thought takes about seven because it writes a whole paragraph before every answer. I kept the reasoning column because it's really helpful when you want to read through individual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turns the raw answers into three numbers per technique. Each predicted code gets mapped to a chapter with the same function from step 3, and anything that failed to parse counts as wrong. I also check every code against the ICD-10 dictionary to catch ones the model made up. The model can invent something like R07.99 and still land in the right chapter, so I track invented codes separately. The charts on the next slide come from cells [17] and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Zero-shot got 31% chapter accuracy, few-shot got 30% and chain-of-thought got 24%. Random guessing across 22 chapters would get under 5%, and always guessing Symptoms &amp; signs gets about 26%. So the model is picking up something from the triage text, but it barely beats the simplest baseline. With only 94 stays the 95% interval is about ±10 points, so I wouldn't read much into the gaps. The thing that surprised me is that few-shot didn't help accuracy. Invented codes dropped a little, from 49% to 43%, but that's inside the same noise, so the most I'd say is the examples might teach the format more than the diagnosis. The confusion matrix is for zero-shot, and the biggest miss is 7 Symptoms stays it called Circulatory.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accuracy is low, and I think a good part of that is the labels. The ED records a billing code after the workup, and if they can't confirm a cause they just code the symptom. So a pretty reasonable answer can still get marked wrong. Lectures 10.2 and 8.2 cover this well. At most a tool like this could draft a category for a clinician to check, and you'd want human review to guard against automation bias. If I kept going, I'd try more cases from the credentialed data, a bigger local model, other MIMIC-IV-ED tables like medrecon, or giving the model an ICD-10 lookup.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sources for the data, the model and the methods. The demo data is openly licensed, which is why I could commit it to the repo. One heads up is that even with temperature 0 and a fixed seed, LLM output can shift a little across hardware and Ollama versions. Your numbers might not match mine exactly, but the overall pattern should 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4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160000" cy="759420"/>
          </a:xfrm>
          <a:prstGeom prst="rect">
            <a:avLst/>
          </a:prstGeom>
          <a:noFill/>
          <a:ln/>
        </p:spPr>
        <p:txBody>
          <a:bodyPr wrap="square" lIns="0" tIns="0" rIns="0" bIns="0" rtlCol="0" anchor="t"/>
          <a:lstStyle>
            <a:lvl1pPr algn="l" indent="0" marL="0">
              <a:lnSpc>
                <a:spcPct val="115000"/>
              </a:lnSpc>
              <a:buNone/>
              <a:defRPr lang="en-US" sz="2600" dirty="0">
                <a:solidFill>
                  <a:srgbClr val="17212B"/>
                </a:solidFill>
                <a:latin typeface="Arial" pitchFamily="34" charset="0"/>
                <a:ea typeface="Arial" pitchFamily="34" charset="-122"/>
                <a:cs typeface="Arial"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66541"/>
            <a:ext cx="10566400" cy="3878659"/>
          </a:xfrm>
          <a:prstGeom prst="rect">
            <a:avLst/>
          </a:prstGeom>
          <a:noFill/>
          <a:ln/>
        </p:spPr>
        <p:txBody>
          <a:bodyPr wrap="square" lIns="0" tIns="0" rIns="0" bIns="0" rtlCol="0" anchor="t"/>
          <a:lstStyle>
            <a:lvl1pPr algn="l" indent="0" marL="0">
              <a:lnSpc>
                <a:spcPct val="140000"/>
              </a:lnSpc>
              <a:buNone/>
              <a:defRPr lang="en-US" sz="1600" dirty="0">
                <a:solidFill>
                  <a:srgbClr val="1721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4F0"/>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160000" cy="759420"/>
          </a:xfrm>
          <a:prstGeom prst="rect">
            <a:avLst/>
          </a:prstGeom>
          <a:noFill/>
          <a:ln/>
        </p:spPr>
        <p:txBody>
          <a:bodyPr wrap="square" lIns="0" tIns="0" rIns="0" bIns="0" rtlCol="0" anchor="t"/>
          <a:lstStyle>
            <a:lvl1pPr algn="l" indent="0" marL="0">
              <a:lnSpc>
                <a:spcPct val="115000"/>
              </a:lnSpc>
              <a:buNone/>
              <a:defRPr lang="en-US" sz="2600" dirty="0">
                <a:solidFill>
                  <a:srgbClr val="17212B"/>
                </a:solidFill>
                <a:latin typeface="Arial" pitchFamily="34" charset="0"/>
                <a:ea typeface="Arial" pitchFamily="34" charset="-122"/>
                <a:cs typeface="Arial" pitchFamily="34" charset="-120"/>
              </a:defRPr>
            </a:lvl1pPr>
          </a:lstStyle>
          <a:p>
            <a:pPr algn="l" indent="0" marL="0">
              <a:lnSpc>
                <a:spcPct val="115000"/>
              </a:lnSpc>
              <a:buNone/>
            </a:pPr>
            <a:endParaRPr lang="en-US" sz="2600" dirty="0"/>
          </a:p>
        </p:txBody>
      </p:sp>
      <p:sp>
        <p:nvSpPr>
          <p:cNvPr id="3" name="Text Placeholder 2"/>
          <p:cNvSpPr/>
          <p:nvPr>
            <p:ph idx="101" type="body"/>
          </p:nvPr>
        </p:nvSpPr>
        <p:spPr>
          <a:xfrm>
            <a:off x="812800" y="2166541"/>
            <a:ext cx="10566400" cy="3878659"/>
          </a:xfrm>
          <a:prstGeom prst="rect">
            <a:avLst/>
          </a:prstGeom>
          <a:noFill/>
          <a:ln/>
        </p:spPr>
        <p:txBody>
          <a:bodyPr wrap="square" lIns="0" tIns="0" rIns="0" bIns="0" rtlCol="0" anchor="t"/>
          <a:lstStyle>
            <a:lvl1pPr algn="l" indent="0" marL="0">
              <a:lnSpc>
                <a:spcPct val="140000"/>
              </a:lnSpc>
              <a:buNone/>
              <a:defRPr lang="en-US" sz="1600" dirty="0">
                <a:solidFill>
                  <a:srgbClr val="17212B"/>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12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50" kern="0" dirty="0">
                <a:solidFill>
                  <a:srgbClr val="6ECFC5"/>
                </a:solidFill>
                <a:latin typeface="Arial" pitchFamily="34" charset="0"/>
                <a:ea typeface="Arial" pitchFamily="34" charset="-122"/>
                <a:cs typeface="Arial" pitchFamily="34" charset="-120"/>
              </a:rPr>
              <a:t>MIMIC-IV-ED DEMO TRIAGE RECORDS</a:t>
            </a:r>
            <a:endParaRPr lang="en-US" sz="1200" dirty="0"/>
          </a:p>
        </p:txBody>
      </p:sp>
      <p:sp>
        <p:nvSpPr>
          <p:cNvPr id="3" name="Text 1"/>
          <p:cNvSpPr/>
          <p:nvPr>
            <p:ph type="title"/>
          </p:nvPr>
        </p:nvSpPr>
        <p:spPr>
          <a:xfrm>
            <a:off x="812800" y="2336850"/>
            <a:ext cx="8502650" cy="1366441"/>
          </a:xfrm>
          <a:prstGeom prst="rect">
            <a:avLst/>
          </a:prstGeom>
          <a:noFill/>
          <a:ln/>
        </p:spPr>
        <p:txBody>
          <a:bodyPr wrap="square" lIns="0" tIns="0" rIns="0" bIns="0" rtlCol="0" anchor="t">
            <a:normAutofit/>
          </a:bodyPr>
          <a:lstStyle/>
          <a:p>
            <a:pPr algn="l" indent="0" marL="0">
              <a:lnSpc>
                <a:spcPts val="5280"/>
              </a:lnSpc>
              <a:buNone/>
            </a:pPr>
            <a:r>
              <a:rPr lang="en-US" sz="4800" b="1" i="0" dirty="0">
                <a:solidFill>
                  <a:srgbClr val="F2F0EA"/>
                </a:solidFill>
                <a:latin typeface="Arial" pitchFamily="34" charset="0"/>
                <a:ea typeface="Arial" pitchFamily="34" charset="-122"/>
                <a:cs typeface="Arial" pitchFamily="34" charset="-120"/>
              </a:rPr>
              <a:t>Classifying ED visits with an LLM</a:t>
            </a:r>
            <a:endParaRPr lang="en-US" sz="4800" dirty="0"/>
          </a:p>
        </p:txBody>
      </p:sp>
      <p:sp>
        <p:nvSpPr>
          <p:cNvPr id="4" name="Text 2"/>
          <p:cNvSpPr/>
          <p:nvPr/>
        </p:nvSpPr>
        <p:spPr>
          <a:xfrm>
            <a:off x="812800" y="3881090"/>
            <a:ext cx="10883392" cy="665460"/>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C8CED3"/>
                </a:solidFill>
                <a:latin typeface="Arial" pitchFamily="34" charset="0"/>
                <a:ea typeface="Arial" pitchFamily="34" charset="-122"/>
                <a:cs typeface="Arial" pitchFamily="34" charset="-120"/>
              </a:rPr>
              <a:t>Self-Learning Tutorial</a:t>
            </a:r>
            <a:endParaRPr lang="en-US" sz="1800" dirty="0"/>
          </a:p>
          <a:p>
            <a:pPr algn="l" indent="0" marL="0">
              <a:lnSpc>
                <a:spcPts val="2520"/>
              </a:lnSpc>
              <a:buNone/>
            </a:pPr>
            <a:r>
              <a:rPr lang="en-US" sz="1800" dirty="0">
                <a:solidFill>
                  <a:srgbClr val="C8CED3"/>
                </a:solidFill>
                <a:latin typeface="Arial" pitchFamily="34" charset="0"/>
                <a:ea typeface="Arial" pitchFamily="34" charset="-122"/>
                <a:cs typeface="Arial" pitchFamily="34" charset="-120"/>
              </a:rPr>
              <a:t>AI in Healthcare</a:t>
            </a:r>
            <a:endParaRPr lang="en-US" sz="1800" dirty="0"/>
          </a:p>
        </p:txBody>
      </p:sp>
      <p:sp>
        <p:nvSpPr>
          <p:cNvPr id="5" name="Text 3"/>
          <p:cNvSpPr/>
          <p:nvPr/>
        </p:nvSpPr>
        <p:spPr>
          <a:xfrm>
            <a:off x="812800" y="58318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8F9AA4"/>
                </a:solidFill>
                <a:latin typeface="Arial" pitchFamily="34" charset="0"/>
                <a:ea typeface="Arial" pitchFamily="34" charset="-122"/>
                <a:cs typeface="Arial" pitchFamily="34" charset="-120"/>
              </a:rPr>
              <a:t>Built with Python, Ollama (qwen2.5:3b) and Pydantic</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Clinicians get a triage record in minutes but the diagnosis comes hours later and clinicians must rehash old facts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An LLM that drafts the diagnosis category at triage could support the clinician rather than replace them</a:t>
            </a:r>
            <a:endParaRPr lang="en-US" sz="1500" dirty="0"/>
          </a:p>
        </p:txBody>
      </p:sp>
      <p:sp>
        <p:nvSpPr>
          <p:cNvPr id="6" name="Text 4"/>
          <p:cNvSpPr/>
          <p:nvPr/>
        </p:nvSpPr>
        <p:spPr>
          <a:xfrm>
            <a:off x="812800" y="2550716"/>
            <a:ext cx="627888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What a triage record looks like</a:t>
            </a:r>
            <a:endParaRPr lang="en-US" sz="1600" dirty="0"/>
          </a:p>
        </p:txBody>
      </p:sp>
      <p:sp>
        <p:nvSpPr>
          <p:cNvPr id="7" name="Text 5"/>
          <p:cNvSpPr/>
          <p:nvPr/>
        </p:nvSpPr>
        <p:spPr>
          <a:xfrm>
            <a:off x="812800" y="2896146"/>
            <a:ext cx="6278880" cy="1016000"/>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Age 83, female. Arrived by ambulance.</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Chief complaint: "Syncope, Transfer"</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T 97.7°F, HR 74, RR 20, SpO2 96%,</a:t>
            </a:r>
            <a:endParaRPr lang="en-US" sz="1300" dirty="0"/>
          </a:p>
          <a:p>
            <a:pPr algn="l" indent="0" marL="0">
              <a:lnSpc>
                <a:spcPts val="1950"/>
              </a:lnSpc>
              <a:buNone/>
            </a:pPr>
            <a:r>
              <a:rPr lang="en-US" sz="1300" dirty="0">
                <a:solidFill>
                  <a:srgbClr val="17212B"/>
                </a:solidFill>
                <a:latin typeface="Arial" pitchFamily="34" charset="0"/>
                <a:ea typeface="Arial" pitchFamily="34" charset="-122"/>
                <a:cs typeface="Arial" pitchFamily="34" charset="-120"/>
              </a:rPr>
              <a:t>BP 133/65. Pain 3/10. ESI acuity 2.</a:t>
            </a:r>
            <a:endParaRPr lang="en-US" sz="1300" dirty="0"/>
          </a:p>
        </p:txBody>
      </p:sp>
      <p:sp>
        <p:nvSpPr>
          <p:cNvPr id="8" name="Text 6"/>
          <p:cNvSpPr/>
          <p:nvPr/>
        </p:nvSpPr>
        <p:spPr>
          <a:xfrm>
            <a:off x="812800" y="3988346"/>
            <a:ext cx="6278880" cy="25653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model sees the complaint, vitals, pain, acuity, arrival, age and sex.</a:t>
            </a:r>
            <a:endParaRPr lang="en-US" sz="1300" dirty="0"/>
          </a:p>
        </p:txBody>
      </p:sp>
      <p:sp>
        <p:nvSpPr>
          <p:cNvPr id="9" name="Text 7"/>
          <p:cNvSpPr/>
          <p:nvPr/>
        </p:nvSpPr>
        <p:spPr>
          <a:xfrm>
            <a:off x="7315200" y="2550716"/>
            <a:ext cx="41859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What the ED recorded later</a:t>
            </a:r>
            <a:endParaRPr lang="en-US" sz="1600" dirty="0"/>
          </a:p>
        </p:txBody>
      </p:sp>
      <p:sp>
        <p:nvSpPr>
          <p:cNvPr id="10" name="Text 8"/>
          <p:cNvSpPr/>
          <p:nvPr/>
        </p:nvSpPr>
        <p:spPr>
          <a:xfrm>
            <a:off x="7315200" y="2896146"/>
            <a:ext cx="418592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7212B"/>
                </a:solidFill>
                <a:latin typeface="Arial" pitchFamily="34" charset="0"/>
                <a:ea typeface="Arial" pitchFamily="34" charset="-122"/>
                <a:cs typeface="Arial" pitchFamily="34" charset="-120"/>
              </a:rPr>
              <a:t>Primary diagnosis (seq_num = 1)</a:t>
            </a:r>
            <a:endParaRPr lang="en-US" sz="1500" dirty="0"/>
          </a:p>
          <a:p>
            <a:pPr algn="l" indent="0" marL="0">
              <a:lnSpc>
                <a:spcPts val="2100"/>
              </a:lnSpc>
              <a:buNone/>
            </a:pPr>
            <a:r>
              <a:rPr lang="en-US" sz="1500" b="1" dirty="0">
                <a:solidFill>
                  <a:srgbClr val="17212B"/>
                </a:solidFill>
                <a:latin typeface="Arial" pitchFamily="34" charset="0"/>
                <a:ea typeface="Arial" pitchFamily="34" charset="-122"/>
                <a:cs typeface="Arial" pitchFamily="34" charset="-120"/>
              </a:rPr>
              <a:t>R55, Syncope and collapse</a:t>
            </a:r>
            <a:endParaRPr lang="en-US" sz="1500" dirty="0"/>
          </a:p>
        </p:txBody>
      </p:sp>
      <p:sp>
        <p:nvSpPr>
          <p:cNvPr id="11" name="Text 9"/>
          <p:cNvSpPr/>
          <p:nvPr/>
        </p:nvSpPr>
        <p:spPr>
          <a:xfrm>
            <a:off x="7315200" y="3531146"/>
            <a:ext cx="41859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score the model against the ICD-10 chapter of this diagnosis, which here is "Symptoms &amp; signs".</a:t>
            </a:r>
            <a:endParaRPr lang="en-US" sz="1300" dirty="0"/>
          </a:p>
        </p:txBody>
      </p:sp>
      <p:sp>
        <p:nvSpPr>
          <p:cNvPr id="12"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[10]</a:t>
            </a:r>
            <a:endParaRPr lang="en-US" sz="1200" dirty="0"/>
          </a:p>
        </p:txBody>
      </p:sp>
      <p:sp>
        <p:nvSpPr>
          <p:cNvPr id="13"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WHAT YOU WILL LEARN</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This tutorial walks through seven steps beginning with a raw triage table and concluding with a scored LLM</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By the end you will be able to run an LLM locally on MIMIC data, prompt it three ways and measure whether the prompting helped</a:t>
            </a:r>
            <a:endParaRPr lang="en-US" sz="1500" dirty="0"/>
          </a:p>
        </p:txBody>
      </p:sp>
      <p:sp>
        <p:nvSpPr>
          <p:cNvPr id="6" name="Shape 4"/>
          <p:cNvSpPr/>
          <p:nvPr/>
        </p:nvSpPr>
        <p:spPr>
          <a:xfrm>
            <a:off x="812800" y="2817416"/>
            <a:ext cx="4064000" cy="0"/>
          </a:xfrm>
          <a:prstGeom prst="line">
            <a:avLst/>
          </a:prstGeom>
          <a:noFill/>
          <a:ln w="19050">
            <a:solidFill>
              <a:srgbClr val="0E6E6C"/>
            </a:solidFill>
            <a:prstDash val="solid"/>
          </a:ln>
        </p:spPr>
      </p:sp>
      <p:sp>
        <p:nvSpPr>
          <p:cNvPr id="7" name="Text 5"/>
          <p:cNvSpPr/>
          <p:nvPr/>
        </p:nvSpPr>
        <p:spPr>
          <a:xfrm>
            <a:off x="812800" y="2928541"/>
            <a:ext cx="41859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You will learn how to</a:t>
            </a:r>
            <a:endParaRPr lang="en-US" sz="1600" dirty="0"/>
          </a:p>
        </p:txBody>
      </p:sp>
      <p:sp>
        <p:nvSpPr>
          <p:cNvPr id="8" name="Text 6"/>
          <p:cNvSpPr/>
          <p:nvPr/>
        </p:nvSpPr>
        <p:spPr>
          <a:xfrm>
            <a:off x="812800" y="3273971"/>
            <a:ext cx="4185920" cy="79871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Run an open-weight LLM on your own laptop with Ollama, so patient records never leave the machine.</a:t>
            </a:r>
            <a:endParaRPr lang="en-US" sz="1400" dirty="0"/>
          </a:p>
        </p:txBody>
      </p:sp>
      <p:sp>
        <p:nvSpPr>
          <p:cNvPr id="9" name="Text 7"/>
          <p:cNvSpPr/>
          <p:nvPr/>
        </p:nvSpPr>
        <p:spPr>
          <a:xfrm>
            <a:off x="812800" y="4148882"/>
            <a:ext cx="418592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Turn a row of MIMIC-IV-ED data into a prompt and get structured JSON back.</a:t>
            </a:r>
            <a:endParaRPr lang="en-US" sz="1400" dirty="0"/>
          </a:p>
        </p:txBody>
      </p:sp>
      <p:sp>
        <p:nvSpPr>
          <p:cNvPr id="10" name="Text 8"/>
          <p:cNvSpPr/>
          <p:nvPr/>
        </p:nvSpPr>
        <p:spPr>
          <a:xfrm>
            <a:off x="812800" y="4766022"/>
            <a:ext cx="4185920" cy="540941"/>
          </a:xfrm>
          <a:prstGeom prst="rect">
            <a:avLst/>
          </a:prstGeom>
          <a:noFill/>
          <a:ln/>
        </p:spPr>
        <p:txBody>
          <a:bodyPr wrap="square" lIns="0" tIns="0" rIns="0" bIns="0" rtlCol="0" anchor="t">
            <a:normAutofit/>
          </a:bodyPr>
          <a:lstStyle/>
          <a:p>
            <a:pPr algn="l" indent="0" marL="0">
              <a:lnSpc>
                <a:spcPts val="2030"/>
              </a:lnSpc>
              <a:buNone/>
            </a:pPr>
            <a:r>
              <a:rPr lang="en-US" sz="1400" dirty="0">
                <a:solidFill>
                  <a:srgbClr val="17212B"/>
                </a:solidFill>
                <a:latin typeface="Arial" pitchFamily="34" charset="0"/>
                <a:ea typeface="Arial" pitchFamily="34" charset="-122"/>
                <a:cs typeface="Arial" pitchFamily="34" charset="-120"/>
              </a:rPr>
              <a:t>Compare zero-shot, few-shot and chain-of-thought prompting against real ED diagnoses.</a:t>
            </a:r>
            <a:endParaRPr lang="en-US" sz="1400" dirty="0"/>
          </a:p>
        </p:txBody>
      </p:sp>
      <p:sp>
        <p:nvSpPr>
          <p:cNvPr id="11" name="Shape 9"/>
          <p:cNvSpPr/>
          <p:nvPr/>
        </p:nvSpPr>
        <p:spPr>
          <a:xfrm>
            <a:off x="5486400" y="2817416"/>
            <a:ext cx="5892800" cy="0"/>
          </a:xfrm>
          <a:prstGeom prst="line">
            <a:avLst/>
          </a:prstGeom>
          <a:noFill/>
          <a:ln w="19050">
            <a:solidFill>
              <a:srgbClr val="17212B"/>
            </a:solidFill>
            <a:prstDash val="solid"/>
          </a:ln>
        </p:spPr>
      </p:sp>
      <p:sp>
        <p:nvSpPr>
          <p:cNvPr id="12" name="Text 10"/>
          <p:cNvSpPr/>
          <p:nvPr/>
        </p:nvSpPr>
        <p:spPr>
          <a:xfrm>
            <a:off x="5486400" y="2928541"/>
            <a:ext cx="60695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seven steps</a:t>
            </a:r>
            <a:endParaRPr lang="en-US" sz="1600" dirty="0"/>
          </a:p>
        </p:txBody>
      </p:sp>
      <p:sp>
        <p:nvSpPr>
          <p:cNvPr id="13" name="Text 11"/>
          <p:cNvSpPr/>
          <p:nvPr/>
        </p:nvSpPr>
        <p:spPr>
          <a:xfrm>
            <a:off x="5542657" y="3273971"/>
            <a:ext cx="6005707" cy="1829792"/>
          </a:xfrm>
          <a:prstGeom prst="rect">
            <a:avLst/>
          </a:prstGeom>
          <a:noFill/>
          <a:ln/>
        </p:spPr>
        <p:txBody>
          <a:bodyPr wrap="square" lIns="0" tIns="0" rIns="0" bIns="0" rtlCol="0" anchor="t">
            <a:normAutofit/>
          </a:bodyPr>
          <a:lstStyle/>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Set up a local model with Ollama</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Build the cohort from five demo tables</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Group each diagnosis into an ICD-10 chapter</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Turn each triage row into a text prompt</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Ask the model with three prompting techniques</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Score the answers by chapter</a:t>
            </a:r>
            <a:endParaRPr lang="en-US" sz="1400" dirty="0"/>
          </a:p>
          <a:p>
            <a:pPr algn="l" marL="197743" indent="-197743">
              <a:lnSpc>
                <a:spcPts val="2030"/>
              </a:lnSpc>
              <a:buSzPct val="100000"/>
              <a:buFontTx/>
              <a:buAutoNum type="arabicPeriod" startAt="1"/>
            </a:pPr>
            <a:r>
              <a:rPr lang="en-US" sz="1400" dirty="0">
                <a:solidFill>
                  <a:srgbClr val="17212B"/>
                </a:solidFill>
                <a:latin typeface="Arial" pitchFamily="34" charset="0"/>
                <a:ea typeface="Arial" pitchFamily="34" charset="-122"/>
                <a:cs typeface="Arial" pitchFamily="34" charset="-120"/>
              </a:rPr>
              <a:t>Read the results and their limits</a:t>
            </a:r>
            <a:endParaRPr lang="en-US" sz="14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WHAT THIS BUILDS ON</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Module 13 provided an overview of prompting techniques and this tutorial tests them on real ED visits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Every technique comes from the course, while the MIMIC-IV-ED tables and the measured accuracy are new</a:t>
            </a:r>
            <a:endParaRPr lang="en-US" sz="1500" dirty="0"/>
          </a:p>
        </p:txBody>
      </p:sp>
      <p:sp>
        <p:nvSpPr>
          <p:cNvPr id="6" name="Shape 4"/>
          <p:cNvSpPr/>
          <p:nvPr/>
        </p:nvSpPr>
        <p:spPr>
          <a:xfrm>
            <a:off x="812800" y="2611041"/>
            <a:ext cx="4978400" cy="0"/>
          </a:xfrm>
          <a:prstGeom prst="line">
            <a:avLst/>
          </a:prstGeom>
          <a:noFill/>
          <a:ln w="19050">
            <a:solidFill>
              <a:srgbClr val="17212B"/>
            </a:solidFill>
            <a:prstDash val="solid"/>
          </a:ln>
        </p:spPr>
      </p:sp>
      <p:sp>
        <p:nvSpPr>
          <p:cNvPr id="7" name="Text 5"/>
          <p:cNvSpPr/>
          <p:nvPr/>
        </p:nvSpPr>
        <p:spPr>
          <a:xfrm>
            <a:off x="812800" y="2722166"/>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From the course</a:t>
            </a:r>
            <a:endParaRPr lang="en-US" sz="1600" dirty="0"/>
          </a:p>
        </p:txBody>
      </p:sp>
      <p:sp>
        <p:nvSpPr>
          <p:cNvPr id="8" name="Text 6"/>
          <p:cNvSpPr/>
          <p:nvPr/>
        </p:nvSpPr>
        <p:spPr>
          <a:xfrm>
            <a:off x="812800" y="3042196"/>
            <a:ext cx="5127752"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7212B"/>
                </a:solidFill>
                <a:latin typeface="Arial" pitchFamily="34" charset="0"/>
                <a:ea typeface="Arial" pitchFamily="34" charset="-122"/>
                <a:cs typeface="Arial" pitchFamily="34" charset="-120"/>
              </a:rPr>
              <a:t>The course covered zero-shot, few-shot and chain-of-thought prompting and showed how to check JSON output with Pydantic.</a:t>
            </a:r>
            <a:endParaRPr lang="en-US" sz="1400" dirty="0"/>
          </a:p>
        </p:txBody>
      </p:sp>
      <p:sp>
        <p:nvSpPr>
          <p:cNvPr id="9" name="Shape 7"/>
          <p:cNvSpPr/>
          <p:nvPr/>
        </p:nvSpPr>
        <p:spPr>
          <a:xfrm>
            <a:off x="6400800" y="2611041"/>
            <a:ext cx="4978400" cy="0"/>
          </a:xfrm>
          <a:prstGeom prst="line">
            <a:avLst/>
          </a:prstGeom>
          <a:noFill/>
          <a:ln w="19050">
            <a:solidFill>
              <a:srgbClr val="0E6E6C"/>
            </a:solidFill>
            <a:prstDash val="solid"/>
          </a:ln>
        </p:spPr>
      </p:sp>
      <p:sp>
        <p:nvSpPr>
          <p:cNvPr id="10" name="Text 8"/>
          <p:cNvSpPr/>
          <p:nvPr/>
        </p:nvSpPr>
        <p:spPr>
          <a:xfrm>
            <a:off x="6400800" y="2722166"/>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New here</a:t>
            </a:r>
            <a:endParaRPr lang="en-US" sz="1600" dirty="0"/>
          </a:p>
        </p:txBody>
      </p:sp>
      <p:sp>
        <p:nvSpPr>
          <p:cNvPr id="11" name="Text 9"/>
          <p:cNvSpPr/>
          <p:nvPr/>
        </p:nvSpPr>
        <p:spPr>
          <a:xfrm>
            <a:off x="6400800" y="3042196"/>
            <a:ext cx="5127752" cy="825500"/>
          </a:xfrm>
          <a:prstGeom prst="rect">
            <a:avLst/>
          </a:prstGeom>
          <a:noFill/>
          <a:ln/>
        </p:spPr>
        <p:txBody>
          <a:bodyPr wrap="square" lIns="0" tIns="0" rIns="0" bIns="0" rtlCol="0" anchor="t">
            <a:normAutofit/>
          </a:bodyPr>
          <a:lstStyle/>
          <a:p>
            <a:pPr algn="l" indent="0" marL="0">
              <a:lnSpc>
                <a:spcPts val="2100"/>
              </a:lnSpc>
              <a:buNone/>
            </a:pPr>
            <a:r>
              <a:rPr lang="en-US" sz="1400" dirty="0">
                <a:solidFill>
                  <a:srgbClr val="17212B"/>
                </a:solidFill>
                <a:latin typeface="Arial" pitchFamily="34" charset="0"/>
                <a:ea typeface="Arial" pitchFamily="34" charset="-122"/>
                <a:cs typeface="Arial" pitchFamily="34" charset="-120"/>
              </a:rPr>
              <a:t>This tutorial applies them to MIMIC-IV-ED triage records, uses real ED diagnoses as labels and measures how accurate each technique is.</a:t>
            </a:r>
            <a:endParaRPr lang="en-US" sz="1400" dirty="0"/>
          </a:p>
        </p:txBody>
      </p:sp>
      <p:sp>
        <p:nvSpPr>
          <p:cNvPr id="12" name="Text 1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BEFORE YOU START (1 OF 2)</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Before step 1, get the code onto your machine and give it its own Python environment</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The demo data is already in the repo, so you don't need a PhysioNet account to follow along</a:t>
            </a:r>
            <a:endParaRPr lang="en-US" sz="1500" dirty="0"/>
          </a:p>
        </p:txBody>
      </p:sp>
      <p:sp>
        <p:nvSpPr>
          <p:cNvPr id="6" name="Shape 4"/>
          <p:cNvSpPr/>
          <p:nvPr/>
        </p:nvSpPr>
        <p:spPr>
          <a:xfrm>
            <a:off x="812800" y="2509441"/>
            <a:ext cx="6604000" cy="0"/>
          </a:xfrm>
          <a:prstGeom prst="line">
            <a:avLst/>
          </a:prstGeom>
          <a:noFill/>
          <a:ln w="19050">
            <a:solidFill>
              <a:srgbClr val="17212B"/>
            </a:solidFill>
            <a:prstDash val="solid"/>
          </a:ln>
        </p:spPr>
      </p:sp>
      <p:sp>
        <p:nvSpPr>
          <p:cNvPr id="7" name="Text 5"/>
          <p:cNvSpPr/>
          <p:nvPr/>
        </p:nvSpPr>
        <p:spPr>
          <a:xfrm>
            <a:off x="812800" y="26205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1. Clone the repo</a:t>
            </a:r>
            <a:endParaRPr lang="en-US" sz="1600" dirty="0"/>
          </a:p>
        </p:txBody>
      </p:sp>
      <p:sp>
        <p:nvSpPr>
          <p:cNvPr id="8" name="Text 6"/>
          <p:cNvSpPr/>
          <p:nvPr/>
        </p:nvSpPr>
        <p:spPr>
          <a:xfrm>
            <a:off x="812800" y="294059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git clone https://github.com/bja2376/triage-llm-tutorial.git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cd triage-llm-tutorial</a:t>
            </a:r>
            <a:endParaRPr lang="en-US" sz="1200" dirty="0"/>
          </a:p>
        </p:txBody>
      </p:sp>
      <p:sp>
        <p:nvSpPr>
          <p:cNvPr id="9" name="Text 7"/>
          <p:cNvSpPr/>
          <p:nvPr/>
        </p:nvSpPr>
        <p:spPr>
          <a:xfrm>
            <a:off x="812800" y="355525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2. Make and activate a virtual environment</a:t>
            </a:r>
            <a:endParaRPr lang="en-US" sz="1600" dirty="0"/>
          </a:p>
        </p:txBody>
      </p:sp>
      <p:sp>
        <p:nvSpPr>
          <p:cNvPr id="10" name="Text 8"/>
          <p:cNvSpPr/>
          <p:nvPr/>
        </p:nvSpPr>
        <p:spPr>
          <a:xfrm>
            <a:off x="812800" y="3875286"/>
            <a:ext cx="680212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python -m venv .venv</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source .venv/bin/activate      </a:t>
            </a:r>
            <a:r>
              <a:rPr lang="en-US" sz="1200" dirty="0">
                <a:solidFill>
                  <a:srgbClr val="5C6772"/>
                </a:solidFill>
                <a:latin typeface="Courier New" pitchFamily="49" charset="0"/>
                <a:ea typeface="Courier New" pitchFamily="49" charset="-122"/>
                <a:cs typeface="Courier New" pitchFamily="49" charset="-120"/>
              </a:rPr>
              <a:t># macOS or Linux</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.venv\Scripts\activate         </a:t>
            </a:r>
            <a:r>
              <a:rPr lang="en-US" sz="1200" dirty="0">
                <a:solidFill>
                  <a:srgbClr val="5C6772"/>
                </a:solidFill>
                <a:latin typeface="Courier New" pitchFamily="49" charset="0"/>
                <a:ea typeface="Courier New" pitchFamily="49" charset="-122"/>
                <a:cs typeface="Courier New" pitchFamily="49" charset="-120"/>
              </a:rPr>
              <a:t># Windows</a:t>
            </a:r>
            <a:endParaRPr lang="en-US" sz="1200" dirty="0"/>
          </a:p>
        </p:txBody>
      </p:sp>
      <p:sp>
        <p:nvSpPr>
          <p:cNvPr id="11" name="Text 9"/>
          <p:cNvSpPr/>
          <p:nvPr/>
        </p:nvSpPr>
        <p:spPr>
          <a:xfrm>
            <a:off x="812800" y="469567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3. Install Jupyter and open the notebook</a:t>
            </a:r>
            <a:endParaRPr lang="en-US" sz="1600" dirty="0"/>
          </a:p>
        </p:txBody>
      </p:sp>
      <p:sp>
        <p:nvSpPr>
          <p:cNvPr id="12" name="Text 10"/>
          <p:cNvSpPr/>
          <p:nvPr/>
        </p:nvSpPr>
        <p:spPr>
          <a:xfrm>
            <a:off x="812800" y="501570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pip install jupyter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jupyter notebook triage_llm_tutorial.ipynb</a:t>
            </a:r>
            <a:endParaRPr lang="en-US" sz="1200" dirty="0"/>
          </a:p>
        </p:txBody>
      </p:sp>
      <p:sp>
        <p:nvSpPr>
          <p:cNvPr id="13" name="Shape 11"/>
          <p:cNvSpPr/>
          <p:nvPr/>
        </p:nvSpPr>
        <p:spPr>
          <a:xfrm>
            <a:off x="7823200" y="2509441"/>
            <a:ext cx="3556000" cy="0"/>
          </a:xfrm>
          <a:prstGeom prst="line">
            <a:avLst/>
          </a:prstGeom>
          <a:noFill/>
          <a:ln w="19050">
            <a:solidFill>
              <a:srgbClr val="0E6E6C"/>
            </a:solidFill>
            <a:prstDash val="solid"/>
          </a:ln>
        </p:spPr>
      </p:sp>
      <p:sp>
        <p:nvSpPr>
          <p:cNvPr id="14" name="Text 12"/>
          <p:cNvSpPr/>
          <p:nvPr/>
        </p:nvSpPr>
        <p:spPr>
          <a:xfrm>
            <a:off x="7823200" y="26205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5" name="Text 13"/>
          <p:cNvSpPr/>
          <p:nvPr/>
        </p:nvSpPr>
        <p:spPr>
          <a:xfrm>
            <a:off x="7823200" y="291008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After cloning, the folder holds the data and the notebook.</a:t>
            </a:r>
            <a:endParaRPr lang="en-US" sz="1300" dirty="0"/>
          </a:p>
        </p:txBody>
      </p:sp>
      <p:sp>
        <p:nvSpPr>
          <p:cNvPr id="16" name="Text 14"/>
          <p:cNvSpPr/>
          <p:nvPr/>
        </p:nvSpPr>
        <p:spPr>
          <a:xfrm>
            <a:off x="7823200" y="3448546"/>
            <a:ext cx="366268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data/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triage_llm_tutorial.ipynb</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triage_llm_tutorial.pdf</a:t>
            </a:r>
            <a:endParaRPr lang="en-US" sz="1200" dirty="0"/>
          </a:p>
        </p:txBody>
      </p:sp>
      <p:sp>
        <p:nvSpPr>
          <p:cNvPr id="17" name="Text 15"/>
          <p:cNvSpPr/>
          <p:nvPr/>
        </p:nvSpPr>
        <p:spPr>
          <a:xfrm>
            <a:off x="7823200" y="419273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Once the environment is active, your terminal prompt starts with (.venv).</a:t>
            </a:r>
            <a:endParaRPr lang="en-US" sz="1300" dirty="0"/>
          </a:p>
        </p:txBody>
      </p:sp>
      <p:sp>
        <p:nvSpPr>
          <p:cNvPr id="18" name="Text 16"/>
          <p:cNvSpPr/>
          <p:nvPr/>
        </p:nvSpPr>
        <p:spPr>
          <a:xfrm>
            <a:off x="7823200" y="473119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Jupyter then opens the notebook in your browser.</a:t>
            </a:r>
            <a:endParaRPr lang="en-US" sz="1300" dirty="0"/>
          </a:p>
        </p:txBody>
      </p:sp>
      <p:sp>
        <p:nvSpPr>
          <p:cNvPr id="19" name="Text 17"/>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section "Before you start"</a:t>
            </a:r>
            <a:endParaRPr lang="en-US" sz="1200" dirty="0"/>
          </a:p>
        </p:txBody>
      </p:sp>
      <p:sp>
        <p:nvSpPr>
          <p:cNvPr id="20" name="Text 18"/>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BEFORE YOU START (2 OF 2)</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Then install Ollama, which runs the model on your laptop, and run the whole notebook</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Ollama has to be running before you start the notebook, because the setup cell asks it to download the model</a:t>
            </a:r>
            <a:endParaRPr lang="en-US" sz="1500" dirty="0"/>
          </a:p>
        </p:txBody>
      </p:sp>
      <p:sp>
        <p:nvSpPr>
          <p:cNvPr id="6" name="Shape 4"/>
          <p:cNvSpPr/>
          <p:nvPr/>
        </p:nvSpPr>
        <p:spPr>
          <a:xfrm>
            <a:off x="812800" y="2509441"/>
            <a:ext cx="6604000" cy="0"/>
          </a:xfrm>
          <a:prstGeom prst="line">
            <a:avLst/>
          </a:prstGeom>
          <a:noFill/>
          <a:ln w="19050">
            <a:solidFill>
              <a:srgbClr val="17212B"/>
            </a:solidFill>
            <a:prstDash val="solid"/>
          </a:ln>
        </p:spPr>
      </p:sp>
      <p:sp>
        <p:nvSpPr>
          <p:cNvPr id="7" name="Text 5"/>
          <p:cNvSpPr/>
          <p:nvPr/>
        </p:nvSpPr>
        <p:spPr>
          <a:xfrm>
            <a:off x="812800" y="26205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4. Install Ollama</a:t>
            </a:r>
            <a:endParaRPr lang="en-US" sz="1600" dirty="0"/>
          </a:p>
        </p:txBody>
      </p:sp>
      <p:sp>
        <p:nvSpPr>
          <p:cNvPr id="8" name="Text 6"/>
          <p:cNvSpPr/>
          <p:nvPr/>
        </p:nvSpPr>
        <p:spPr>
          <a:xfrm>
            <a:off x="812800" y="2940596"/>
            <a:ext cx="68021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On macOS or Windows, download the installer from ollama.com/download and open the app. On Linux, run</a:t>
            </a:r>
            <a:endParaRPr lang="en-US" sz="1300" dirty="0"/>
          </a:p>
        </p:txBody>
      </p:sp>
      <p:sp>
        <p:nvSpPr>
          <p:cNvPr id="9" name="Text 7"/>
          <p:cNvSpPr/>
          <p:nvPr/>
        </p:nvSpPr>
        <p:spPr>
          <a:xfrm>
            <a:off x="812800" y="3479056"/>
            <a:ext cx="680212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curl -fsSL https://ollama.com/install.sh | sh</a:t>
            </a:r>
            <a:endParaRPr lang="en-US" sz="1200" dirty="0"/>
          </a:p>
        </p:txBody>
      </p:sp>
      <p:sp>
        <p:nvSpPr>
          <p:cNvPr id="10" name="Text 8"/>
          <p:cNvSpPr/>
          <p:nvPr/>
        </p:nvSpPr>
        <p:spPr>
          <a:xfrm>
            <a:off x="812800" y="388798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5. Check that it works</a:t>
            </a:r>
            <a:endParaRPr lang="en-US" sz="1600" dirty="0"/>
          </a:p>
        </p:txBody>
      </p:sp>
      <p:sp>
        <p:nvSpPr>
          <p:cNvPr id="11" name="Text 9"/>
          <p:cNvSpPr/>
          <p:nvPr/>
        </p:nvSpPr>
        <p:spPr>
          <a:xfrm>
            <a:off x="812800" y="4208016"/>
            <a:ext cx="680212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ollama --version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ollama pull qwen2.5:3b    </a:t>
            </a:r>
            <a:r>
              <a:rPr lang="en-US" sz="1200" dirty="0">
                <a:solidFill>
                  <a:srgbClr val="5C6772"/>
                </a:solidFill>
                <a:latin typeface="Courier New" pitchFamily="49" charset="0"/>
                <a:ea typeface="Courier New" pitchFamily="49" charset="-122"/>
                <a:cs typeface="Courier New" pitchFamily="49" charset="-120"/>
              </a:rPr>
              <a:t># optional, the notebook does this too</a:t>
            </a:r>
            <a:endParaRPr lang="en-US" sz="1200" dirty="0"/>
          </a:p>
        </p:txBody>
      </p:sp>
      <p:sp>
        <p:nvSpPr>
          <p:cNvPr id="12" name="Text 10"/>
          <p:cNvSpPr/>
          <p:nvPr/>
        </p:nvSpPr>
        <p:spPr>
          <a:xfrm>
            <a:off x="812800" y="482267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6. Run every cell</a:t>
            </a:r>
            <a:endParaRPr lang="en-US" sz="1600" dirty="0"/>
          </a:p>
        </p:txBody>
      </p:sp>
      <p:sp>
        <p:nvSpPr>
          <p:cNvPr id="13" name="Text 11"/>
          <p:cNvSpPr/>
          <p:nvPr/>
        </p:nvSpPr>
        <p:spPr>
          <a:xfrm>
            <a:off x="812800" y="5142706"/>
            <a:ext cx="680212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In Jupyter, open the Run menu and choose Run All Cells. Keep Ollama open until the last cell finishes.</a:t>
            </a:r>
            <a:endParaRPr lang="en-US" sz="1300" dirty="0"/>
          </a:p>
        </p:txBody>
      </p:sp>
      <p:sp>
        <p:nvSpPr>
          <p:cNvPr id="14" name="Shape 12"/>
          <p:cNvSpPr/>
          <p:nvPr/>
        </p:nvSpPr>
        <p:spPr>
          <a:xfrm>
            <a:off x="7823200" y="2509441"/>
            <a:ext cx="3556000" cy="0"/>
          </a:xfrm>
          <a:prstGeom prst="line">
            <a:avLst/>
          </a:prstGeom>
          <a:noFill/>
          <a:ln w="19050">
            <a:solidFill>
              <a:srgbClr val="0E6E6C"/>
            </a:solidFill>
            <a:prstDash val="solid"/>
          </a:ln>
        </p:spPr>
      </p:sp>
      <p:sp>
        <p:nvSpPr>
          <p:cNvPr id="15" name="Text 13"/>
          <p:cNvSpPr/>
          <p:nvPr/>
        </p:nvSpPr>
        <p:spPr>
          <a:xfrm>
            <a:off x="7823200" y="26205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6" name="Text 14"/>
          <p:cNvSpPr/>
          <p:nvPr/>
        </p:nvSpPr>
        <p:spPr>
          <a:xfrm>
            <a:off x="7823200" y="291008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ollama --version prints a version number, and the pull ends with</a:t>
            </a:r>
            <a:endParaRPr lang="en-US" sz="1300" dirty="0"/>
          </a:p>
        </p:txBody>
      </p:sp>
      <p:sp>
        <p:nvSpPr>
          <p:cNvPr id="17" name="Text 15"/>
          <p:cNvSpPr/>
          <p:nvPr/>
        </p:nvSpPr>
        <p:spPr>
          <a:xfrm>
            <a:off x="7823200" y="3448546"/>
            <a:ext cx="3662680" cy="23113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success</a:t>
            </a:r>
            <a:endParaRPr lang="en-US" sz="1200" dirty="0"/>
          </a:p>
        </p:txBody>
      </p:sp>
      <p:sp>
        <p:nvSpPr>
          <p:cNvPr id="18" name="Text 16"/>
          <p:cNvSpPr/>
          <p:nvPr/>
        </p:nvSpPr>
        <p:spPr>
          <a:xfrm>
            <a:off x="7823200" y="3781276"/>
            <a:ext cx="3662680" cy="9499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full run takes about 10 minutes on a laptop. Each code cell opens with a comment that says what it should print, so you can check every step against it.</a:t>
            </a:r>
            <a:endParaRPr lang="en-US" sz="1300" dirty="0"/>
          </a:p>
        </p:txBody>
      </p:sp>
      <p:sp>
        <p:nvSpPr>
          <p:cNvPr id="19" name="Text 17"/>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section "Before you start" and cell [2]</a:t>
            </a:r>
            <a:endParaRPr lang="en-US" sz="1200" dirty="0"/>
          </a:p>
        </p:txBody>
      </p:sp>
      <p:sp>
        <p:nvSpPr>
          <p:cNvPr id="20" name="Text 18"/>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SETUP (STEP 1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First, run a small open model locally so no patient record leaves the machine</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 3B model answers in about 3.6 seconds per call on a laptop, which is fast enough to score every stay in a reasonable amount of time</a:t>
            </a:r>
            <a:endParaRPr lang="en-US" sz="1500" dirty="0"/>
          </a:p>
        </p:txBody>
      </p:sp>
      <p:sp>
        <p:nvSpPr>
          <p:cNvPr id="6" name="Shape 4"/>
          <p:cNvSpPr/>
          <p:nvPr/>
        </p:nvSpPr>
        <p:spPr>
          <a:xfrm>
            <a:off x="812800" y="2766616"/>
            <a:ext cx="6604000" cy="0"/>
          </a:xfrm>
          <a:prstGeom prst="line">
            <a:avLst/>
          </a:prstGeom>
          <a:noFill/>
          <a:ln w="19050">
            <a:solidFill>
              <a:srgbClr val="17212B"/>
            </a:solidFill>
            <a:prstDash val="solid"/>
          </a:ln>
        </p:spPr>
      </p:sp>
      <p:sp>
        <p:nvSpPr>
          <p:cNvPr id="7" name="Text 5"/>
          <p:cNvSpPr/>
          <p:nvPr/>
        </p:nvSpPr>
        <p:spPr>
          <a:xfrm>
            <a:off x="812800" y="28777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config cell</a:t>
            </a:r>
            <a:endParaRPr lang="en-US" sz="1600" dirty="0"/>
          </a:p>
        </p:txBody>
      </p:sp>
      <p:sp>
        <p:nvSpPr>
          <p:cNvPr id="8" name="Text 6"/>
          <p:cNvSpPr/>
          <p:nvPr/>
        </p:nvSpPr>
        <p:spPr>
          <a:xfrm>
            <a:off x="812800" y="3197771"/>
            <a:ext cx="6802120" cy="146551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MODEL   = "qwen2.5:3b"   </a:t>
            </a:r>
            <a:r>
              <a:rPr lang="en-US" sz="1200" dirty="0">
                <a:solidFill>
                  <a:srgbClr val="5C6772"/>
                </a:solidFill>
                <a:latin typeface="Courier New" pitchFamily="49" charset="0"/>
                <a:ea typeface="Courier New" pitchFamily="49" charset="-122"/>
                <a:cs typeface="Courier New" pitchFamily="49" charset="-120"/>
              </a:rPr>
              <a:t># served by Ollama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N_CASES = 1000           </a:t>
            </a:r>
            <a:r>
              <a:rPr lang="en-US" sz="1200" dirty="0">
                <a:solidFill>
                  <a:srgbClr val="5C6772"/>
                </a:solidFill>
                <a:latin typeface="Courier New" pitchFamily="49" charset="0"/>
                <a:ea typeface="Courier New" pitchFamily="49" charset="-122"/>
                <a:cs typeface="Courier New" pitchFamily="49" charset="-120"/>
              </a:rPr>
              <a:t># lower = faster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SEED    = 42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DATA    = Path("data")</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print("pull:", ollama.pull(MODEL).status)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print(ollama.show(MODEL).details)</a:t>
            </a:r>
            <a:endParaRPr lang="en-US" sz="1200" dirty="0"/>
          </a:p>
        </p:txBody>
      </p:sp>
      <p:sp>
        <p:nvSpPr>
          <p:cNvPr id="9" name="Text 7"/>
          <p:cNvSpPr/>
          <p:nvPr/>
        </p:nvSpPr>
        <p:spPr>
          <a:xfrm>
            <a:off x="812800" y="481568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timed test call</a:t>
            </a:r>
            <a:endParaRPr lang="en-US" sz="1600" dirty="0"/>
          </a:p>
        </p:txBody>
      </p:sp>
      <p:sp>
        <p:nvSpPr>
          <p:cNvPr id="10" name="Text 8"/>
          <p:cNvSpPr/>
          <p:nvPr/>
        </p:nvSpPr>
        <p:spPr>
          <a:xfrm>
            <a:off x="812800" y="5135711"/>
            <a:ext cx="6802120"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 = ollama.chat(model=MODEL, messages=[{"role": "user",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"content": "Name one ICD-10 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options={"temperature": 0, "seed": SEED})</a:t>
            </a:r>
            <a:endParaRPr lang="en-US" sz="1200" dirty="0"/>
          </a:p>
        </p:txBody>
      </p:sp>
      <p:sp>
        <p:nvSpPr>
          <p:cNvPr id="11" name="Shape 9"/>
          <p:cNvSpPr/>
          <p:nvPr/>
        </p:nvSpPr>
        <p:spPr>
          <a:xfrm>
            <a:off x="7823200" y="2766616"/>
            <a:ext cx="3556000" cy="0"/>
          </a:xfrm>
          <a:prstGeom prst="line">
            <a:avLst/>
          </a:prstGeom>
          <a:noFill/>
          <a:ln w="19050">
            <a:solidFill>
              <a:srgbClr val="0E6E6C"/>
            </a:solidFill>
            <a:prstDash val="solid"/>
          </a:ln>
        </p:spPr>
      </p:sp>
      <p:sp>
        <p:nvSpPr>
          <p:cNvPr id="12" name="Text 10"/>
          <p:cNvSpPr/>
          <p:nvPr/>
        </p:nvSpPr>
        <p:spPr>
          <a:xfrm>
            <a:off x="7823200" y="28777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3" name="Text 11"/>
          <p:cNvSpPr/>
          <p:nvPr/>
        </p:nvSpPr>
        <p:spPr>
          <a:xfrm>
            <a:off x="7823200" y="3167261"/>
            <a:ext cx="3662680" cy="12597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pull: success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family='qwen2'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parameter_size='3.1B'</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quantization_level='Q4_K_M'</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3.6s per call</a:t>
            </a:r>
            <a:endParaRPr lang="en-US" sz="1200" dirty="0"/>
          </a:p>
        </p:txBody>
      </p:sp>
      <p:sp>
        <p:nvSpPr>
          <p:cNvPr id="14" name="Text 12"/>
          <p:cNvSpPr/>
          <p:nvPr/>
        </p:nvSpPr>
        <p:spPr>
          <a:xfrm>
            <a:off x="7823200" y="4528641"/>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full run takes roughly the per-call time multiplied by 3 prompts and by N_CASES.</a:t>
            </a:r>
            <a:endParaRPr lang="en-US" sz="1300" dirty="0"/>
          </a:p>
        </p:txBody>
      </p:sp>
      <p:sp>
        <p:nvSpPr>
          <p:cNvPr id="15" name="Text 13"/>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[1]–[3]</a:t>
            </a:r>
            <a:endParaRPr lang="en-US" sz="1200" dirty="0"/>
          </a:p>
        </p:txBody>
      </p:sp>
      <p:sp>
        <p:nvSpPr>
          <p:cNvPr id="16"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23490"/>
          </a:xfrm>
          <a:prstGeom prst="rect">
            <a:avLst/>
          </a:prstGeom>
          <a:noFill/>
          <a:ln/>
        </p:spPr>
        <p:txBody>
          <a:bodyPr wrap="square" lIns="0" tIns="0" rIns="0" bIns="0" rtlCol="0" anchor="t">
            <a:normAutofit/>
          </a:bodyPr>
          <a:lstStyle/>
          <a:p>
            <a:pPr algn="l" indent="0" marL="0">
              <a:lnSpc>
                <a:spcPts val="1570"/>
              </a:lnSpc>
              <a:buNone/>
            </a:pPr>
            <a:r>
              <a:rPr lang="en-US" sz="1121" spc="100" kern="0" dirty="0">
                <a:solidFill>
                  <a:srgbClr val="0E6E6C"/>
                </a:solidFill>
                <a:latin typeface="Arial" pitchFamily="34" charset="0"/>
                <a:ea typeface="Arial" pitchFamily="34" charset="-122"/>
                <a:cs typeface="Arial" pitchFamily="34" charset="-120"/>
              </a:rPr>
              <a:t>DATA (STEP 2 OF 7)</a:t>
            </a:r>
            <a:endParaRPr lang="en-US" sz="1121" dirty="0"/>
          </a:p>
        </p:txBody>
      </p:sp>
      <p:sp>
        <p:nvSpPr>
          <p:cNvPr id="3" name="Text 1"/>
          <p:cNvSpPr/>
          <p:nvPr>
            <p:ph type="title"/>
          </p:nvPr>
        </p:nvSpPr>
        <p:spPr>
          <a:xfrm>
            <a:off x="812800" y="1087090"/>
            <a:ext cx="10464800" cy="730597"/>
          </a:xfrm>
          <a:prstGeom prst="rect">
            <a:avLst/>
          </a:prstGeom>
          <a:noFill/>
          <a:ln/>
        </p:spPr>
        <p:txBody>
          <a:bodyPr wrap="square" lIns="0" tIns="0" rIns="0" bIns="0" rtlCol="0" anchor="t">
            <a:normAutofit/>
          </a:bodyPr>
          <a:lstStyle/>
          <a:p>
            <a:pPr algn="l" indent="0" marL="0">
              <a:lnSpc>
                <a:spcPts val="2784"/>
              </a:lnSpc>
              <a:buNone/>
            </a:pPr>
            <a:r>
              <a:rPr lang="en-US" sz="2421" b="1" i="0" dirty="0">
                <a:solidFill>
                  <a:srgbClr val="17212B"/>
                </a:solidFill>
                <a:latin typeface="Arial" pitchFamily="34" charset="0"/>
                <a:ea typeface="Arial" pitchFamily="34" charset="-122"/>
                <a:cs typeface="Arial" pitchFamily="34" charset="-120"/>
              </a:rPr>
              <a:t>Next, we join five demo tables into one row per ED stay and keep only the fields known at triage</a:t>
            </a:r>
            <a:endParaRPr lang="en-US" sz="2421" dirty="0"/>
          </a:p>
        </p:txBody>
      </p:sp>
      <p:sp>
        <p:nvSpPr>
          <p:cNvPr id="4" name="Shape 2"/>
          <p:cNvSpPr/>
          <p:nvPr/>
        </p:nvSpPr>
        <p:spPr>
          <a:xfrm>
            <a:off x="825500" y="1868488"/>
            <a:ext cx="0" cy="477639"/>
          </a:xfrm>
          <a:prstGeom prst="line">
            <a:avLst/>
          </a:prstGeom>
          <a:noFill/>
          <a:ln w="25400">
            <a:solidFill>
              <a:srgbClr val="0E6E6C"/>
            </a:solidFill>
            <a:prstDash val="solid"/>
          </a:ln>
        </p:spPr>
      </p:sp>
      <p:sp>
        <p:nvSpPr>
          <p:cNvPr id="5" name="Text 3"/>
          <p:cNvSpPr/>
          <p:nvPr/>
        </p:nvSpPr>
        <p:spPr>
          <a:xfrm>
            <a:off x="965200" y="1868488"/>
            <a:ext cx="10307828" cy="503039"/>
          </a:xfrm>
          <a:prstGeom prst="rect">
            <a:avLst/>
          </a:prstGeom>
          <a:noFill/>
          <a:ln/>
        </p:spPr>
        <p:txBody>
          <a:bodyPr wrap="square" lIns="0" tIns="0" rIns="0" bIns="0" rtlCol="0" anchor="t">
            <a:normAutofit/>
          </a:bodyPr>
          <a:lstStyle/>
          <a:p>
            <a:pPr algn="l" indent="0" marL="0">
              <a:lnSpc>
                <a:spcPts val="1886"/>
              </a:lnSpc>
              <a:buNone/>
            </a:pPr>
            <a:r>
              <a:rPr lang="en-US" sz="1397" dirty="0">
                <a:solidFill>
                  <a:srgbClr val="3A4651"/>
                </a:solidFill>
                <a:latin typeface="Arial" pitchFamily="34" charset="0"/>
                <a:ea typeface="Arial" pitchFamily="34" charset="-122"/>
                <a:cs typeface="Arial" pitchFamily="34" charset="-120"/>
              </a:rPr>
              <a:t>The cohort has 221 stays from 63 patients, and we leave out anything recorded after the diagnosis so the answer doesn't leak into the prompt</a:t>
            </a:r>
            <a:endParaRPr lang="en-US" sz="1397" dirty="0"/>
          </a:p>
        </p:txBody>
      </p:sp>
      <p:sp>
        <p:nvSpPr>
          <p:cNvPr id="6" name="Shape 4"/>
          <p:cNvSpPr/>
          <p:nvPr/>
        </p:nvSpPr>
        <p:spPr>
          <a:xfrm>
            <a:off x="812800" y="2660452"/>
            <a:ext cx="6604000" cy="0"/>
          </a:xfrm>
          <a:prstGeom prst="line">
            <a:avLst/>
          </a:prstGeom>
          <a:noFill/>
          <a:ln w="19050">
            <a:solidFill>
              <a:srgbClr val="17212B"/>
            </a:solidFill>
            <a:prstDash val="solid"/>
          </a:ln>
        </p:spPr>
      </p:sp>
      <p:sp>
        <p:nvSpPr>
          <p:cNvPr id="7" name="Text 5"/>
          <p:cNvSpPr/>
          <p:nvPr/>
        </p:nvSpPr>
        <p:spPr>
          <a:xfrm>
            <a:off x="812800" y="2771577"/>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Load the tables and build the cohort</a:t>
            </a:r>
            <a:endParaRPr lang="en-US" sz="1600" dirty="0"/>
          </a:p>
        </p:txBody>
      </p:sp>
      <p:sp>
        <p:nvSpPr>
          <p:cNvPr id="8" name="Text 6"/>
          <p:cNvSpPr/>
          <p:nvPr/>
        </p:nvSpPr>
        <p:spPr>
          <a:xfrm>
            <a:off x="812800" y="3091607"/>
            <a:ext cx="6802120" cy="2996754"/>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edstays   = pd.read_csv(DATA / "ed/edstays.csv.gz")</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triage    = pd.read_csv(DATA / "ed/triage.csv.gz")</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diagnosis = pd.read_csv(DATA / "ed/diagnosis.csv.gz")</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patients  = pd.read_csv(DATA / "hosp/patients.csv.gz")</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d_icd     = pd.read_csv(DATA / "hosp/d_icd_diagnoses.csv.gz")</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valid_icd10 = set(d_icd.loc[d_icd.icd_version == 10,</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"icd_code"].str.strip())</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primary = diagnosis.loc[diagnosis.seq_num == 1,</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["stay_id", "icd_code", "icd_version", "icd_title"]]</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cohort = (edstays[["subject_id", "stay_id",</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"gender", "arrival_transport"]]</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.merge(triage.drop(columns=["subject_id"], errors="ignore"),</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on="stay_id")</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.merge(patients[["subject_id", "anchor_age"]], on="subject_id")</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.merge(primary, on="stay_id"))</a:t>
            </a:r>
            <a:endParaRPr lang="en-US" sz="1200" dirty="0"/>
          </a:p>
        </p:txBody>
      </p:sp>
      <p:sp>
        <p:nvSpPr>
          <p:cNvPr id="9" name="Shape 7"/>
          <p:cNvSpPr/>
          <p:nvPr/>
        </p:nvSpPr>
        <p:spPr>
          <a:xfrm>
            <a:off x="7823200" y="2660452"/>
            <a:ext cx="3556000" cy="0"/>
          </a:xfrm>
          <a:prstGeom prst="line">
            <a:avLst/>
          </a:prstGeom>
          <a:noFill/>
          <a:ln w="19050">
            <a:solidFill>
              <a:srgbClr val="0E6E6C"/>
            </a:solidFill>
            <a:prstDash val="solid"/>
          </a:ln>
        </p:spPr>
      </p:sp>
      <p:sp>
        <p:nvSpPr>
          <p:cNvPr id="10" name="Text 8"/>
          <p:cNvSpPr/>
          <p:nvPr/>
        </p:nvSpPr>
        <p:spPr>
          <a:xfrm>
            <a:off x="7823200" y="2771577"/>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061097"/>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222 ED stays → 221 with triage + primary diagnosis (63 patients)</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835900" y="3612257"/>
          <a:ext cx="3543300" cy="2163763"/>
        </p:xfrm>
        <a:graphic>
          <a:graphicData uri="http://schemas.openxmlformats.org/drawingml/2006/table">
            <a:tbl>
              <a:tblPr/>
              <a:tblGrid>
                <a:gridCol w="1771650"/>
                <a:gridCol w="1771650"/>
              </a:tblGrid>
              <a:tr h="289520">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table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used for</a:t>
                      </a:r>
                      <a:endParaRPr lang="en-US" sz="1200" dirty="0">
                        <a:latin typeface="Arial" charset="0"/>
                        <a:ea typeface="Arial" charset="0"/>
                        <a:cs typeface="Arial" charset="0"/>
                      </a:endParaRPr>
                    </a:p>
                  </a:txBody>
                  <a:tcPr marL="63500" marR="63500" marT="31750" marB="3175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edstays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sex, arrival transport</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28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triage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complaint, vitals, pain, acuity</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diagnosis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the label (seq_num = 1)</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2895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patients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age (anchor_age)</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028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d_icd_diagnoses</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checking codes in step 6</a:t>
                      </a:r>
                      <a:endParaRPr lang="en-US" sz="1200" dirty="0">
                        <a:latin typeface="Arial" charset="0"/>
                        <a:ea typeface="Arial" charset="0"/>
                        <a:cs typeface="Arial" charset="0"/>
                      </a:endParaRPr>
                    </a:p>
                  </a:txBody>
                  <a:tcPr marL="63500" marR="63500" marT="31750" marB="3175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3"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[4]–[6]</a:t>
            </a:r>
            <a:endParaRPr lang="en-US" sz="1200" dirty="0"/>
          </a:p>
        </p:txBody>
      </p:sp>
      <p:sp>
        <p:nvSpPr>
          <p:cNvPr id="14"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29939"/>
          </a:xfrm>
          <a:prstGeom prst="rect">
            <a:avLst/>
          </a:prstGeom>
          <a:noFill/>
          <a:ln/>
        </p:spPr>
        <p:txBody>
          <a:bodyPr wrap="square" lIns="0" tIns="0" rIns="0" bIns="0" rtlCol="0" anchor="t">
            <a:normAutofit/>
          </a:bodyPr>
          <a:lstStyle/>
          <a:p>
            <a:pPr algn="l" indent="0" marL="0">
              <a:lnSpc>
                <a:spcPts val="1622"/>
              </a:lnSpc>
              <a:buNone/>
            </a:pPr>
            <a:r>
              <a:rPr lang="en-US" sz="1159" spc="100" kern="0" dirty="0">
                <a:solidFill>
                  <a:srgbClr val="0E6E6C"/>
                </a:solidFill>
                <a:latin typeface="Arial" pitchFamily="34" charset="0"/>
                <a:ea typeface="Arial" pitchFamily="34" charset="-122"/>
                <a:cs typeface="Arial" pitchFamily="34" charset="-120"/>
              </a:rPr>
              <a:t>LABELS (STEP 3 OF 7)</a:t>
            </a:r>
            <a:endParaRPr lang="en-US" sz="1159" dirty="0"/>
          </a:p>
        </p:txBody>
      </p:sp>
      <p:sp>
        <p:nvSpPr>
          <p:cNvPr id="3" name="Text 1"/>
          <p:cNvSpPr/>
          <p:nvPr>
            <p:ph type="title"/>
          </p:nvPr>
        </p:nvSpPr>
        <p:spPr>
          <a:xfrm>
            <a:off x="812800" y="1093539"/>
            <a:ext cx="10464800" cy="753566"/>
          </a:xfrm>
          <a:prstGeom prst="rect">
            <a:avLst/>
          </a:prstGeom>
          <a:noFill/>
          <a:ln/>
        </p:spPr>
        <p:txBody>
          <a:bodyPr wrap="square" lIns="0" tIns="0" rIns="0" bIns="0" rtlCol="0" anchor="t">
            <a:normAutofit/>
          </a:bodyPr>
          <a:lstStyle/>
          <a:p>
            <a:pPr algn="l" indent="0" marL="0">
              <a:lnSpc>
                <a:spcPts val="2887"/>
              </a:lnSpc>
              <a:buNone/>
            </a:pPr>
            <a:r>
              <a:rPr lang="en-US" sz="2511" b="1" i="0" dirty="0">
                <a:solidFill>
                  <a:srgbClr val="17212B"/>
                </a:solidFill>
                <a:latin typeface="Arial" pitchFamily="34" charset="0"/>
                <a:ea typeface="Arial" pitchFamily="34" charset="-122"/>
                <a:cs typeface="Arial" pitchFamily="34" charset="-120"/>
              </a:rPr>
              <a:t>Then group each diagnosis into one of 22 ICD-10 chapters so the task is answerable</a:t>
            </a:r>
            <a:endParaRPr lang="en-US" sz="2511" dirty="0"/>
          </a:p>
        </p:txBody>
      </p:sp>
      <p:sp>
        <p:nvSpPr>
          <p:cNvPr id="4" name="Shape 2"/>
          <p:cNvSpPr/>
          <p:nvPr/>
        </p:nvSpPr>
        <p:spPr>
          <a:xfrm>
            <a:off x="825500" y="1897906"/>
            <a:ext cx="0" cy="493167"/>
          </a:xfrm>
          <a:prstGeom prst="line">
            <a:avLst/>
          </a:prstGeom>
          <a:noFill/>
          <a:ln w="25400">
            <a:solidFill>
              <a:srgbClr val="0E6E6C"/>
            </a:solidFill>
            <a:prstDash val="solid"/>
          </a:ln>
        </p:spPr>
      </p:sp>
      <p:sp>
        <p:nvSpPr>
          <p:cNvPr id="5" name="Text 3"/>
          <p:cNvSpPr/>
          <p:nvPr/>
        </p:nvSpPr>
        <p:spPr>
          <a:xfrm>
            <a:off x="965200" y="1897906"/>
            <a:ext cx="10307828" cy="518567"/>
          </a:xfrm>
          <a:prstGeom prst="rect">
            <a:avLst/>
          </a:prstGeom>
          <a:noFill/>
          <a:ln/>
        </p:spPr>
        <p:txBody>
          <a:bodyPr wrap="square" lIns="0" tIns="0" rIns="0" bIns="0" rtlCol="0" anchor="t">
            <a:normAutofit/>
          </a:bodyPr>
          <a:lstStyle/>
          <a:p>
            <a:pPr algn="l" indent="0" marL="0">
              <a:lnSpc>
                <a:spcPts val="1962"/>
              </a:lnSpc>
              <a:buNone/>
            </a:pPr>
            <a:r>
              <a:rPr lang="en-US" sz="1453" dirty="0">
                <a:solidFill>
                  <a:srgbClr val="3A4651"/>
                </a:solidFill>
                <a:latin typeface="Arial" pitchFamily="34" charset="0"/>
                <a:ea typeface="Arial" pitchFamily="34" charset="-122"/>
                <a:cs typeface="Arial" pitchFamily="34" charset="-120"/>
              </a:rPr>
              <a:t>Symptoms &amp; signs is the largest chapter, and always guessing it would score 26% on the stays we evaluate, which is the baseline any prompt has to beat</a:t>
            </a:r>
            <a:endParaRPr lang="en-US" sz="1453" dirty="0"/>
          </a:p>
        </p:txBody>
      </p:sp>
      <p:sp>
        <p:nvSpPr>
          <p:cNvPr id="6" name="Shape 4"/>
          <p:cNvSpPr/>
          <p:nvPr/>
        </p:nvSpPr>
        <p:spPr>
          <a:xfrm>
            <a:off x="812800" y="2654598"/>
            <a:ext cx="6604000" cy="0"/>
          </a:xfrm>
          <a:prstGeom prst="line">
            <a:avLst/>
          </a:prstGeom>
          <a:noFill/>
          <a:ln w="19050">
            <a:solidFill>
              <a:srgbClr val="17212B"/>
            </a:solidFill>
            <a:prstDash val="solid"/>
          </a:ln>
        </p:spPr>
      </p:sp>
      <p:sp>
        <p:nvSpPr>
          <p:cNvPr id="7" name="Text 5"/>
          <p:cNvSpPr/>
          <p:nvPr/>
        </p:nvSpPr>
        <p:spPr>
          <a:xfrm>
            <a:off x="812800" y="2765723"/>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Map each code to its chapter</a:t>
            </a:r>
            <a:endParaRPr lang="en-US" sz="1600" dirty="0"/>
          </a:p>
        </p:txBody>
      </p:sp>
      <p:sp>
        <p:nvSpPr>
          <p:cNvPr id="8" name="Text 6"/>
          <p:cNvSpPr/>
          <p:nvPr/>
        </p:nvSpPr>
        <p:spPr>
          <a:xfrm>
            <a:off x="812800" y="3085753"/>
            <a:ext cx="6802120" cy="290562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ICD10_CHAPTERS =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("A00", "B99", "Infectious"),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t>
            </a:r>
            <a:r>
              <a:rPr lang="en-US" sz="1200" dirty="0">
                <a:solidFill>
                  <a:srgbClr val="5C6772"/>
                </a:solidFill>
                <a:latin typeface="Courier New" pitchFamily="49" charset="0"/>
                <a:ea typeface="Courier New" pitchFamily="49" charset="-122"/>
                <a:cs typeface="Courier New" pitchFamily="49" charset="-120"/>
              </a:rPr>
              <a:t># ... 22 chapters in all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("R00", "R99", "Symptoms &amp; signs"),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clean_code(code: str) -&gt;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code.strip().upper().replace(".",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icd10_chapter(code: str) -&gt;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category = clean_code(code)[:3]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not re.fullmatch(r"[A-Z]\d[0-9A-Z]", category):</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"Unknown"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lo, hi, name in ICD10_CHAPTERS: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lo &lt;= category &lt;= hi:</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name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"Unknown"</a:t>
            </a:r>
            <a:endParaRPr lang="en-US" sz="1200" dirty="0"/>
          </a:p>
        </p:txBody>
      </p:sp>
      <p:sp>
        <p:nvSpPr>
          <p:cNvPr id="9" name="Shape 7"/>
          <p:cNvSpPr/>
          <p:nvPr/>
        </p:nvSpPr>
        <p:spPr>
          <a:xfrm>
            <a:off x="7823200" y="2654598"/>
            <a:ext cx="3556000" cy="0"/>
          </a:xfrm>
          <a:prstGeom prst="line">
            <a:avLst/>
          </a:prstGeom>
          <a:noFill/>
          <a:ln w="19050">
            <a:solidFill>
              <a:srgbClr val="0E6E6C"/>
            </a:solidFill>
            <a:prstDash val="solid"/>
          </a:ln>
        </p:spPr>
      </p:sp>
      <p:sp>
        <p:nvSpPr>
          <p:cNvPr id="10" name="Text 8"/>
          <p:cNvSpPr/>
          <p:nvPr/>
        </p:nvSpPr>
        <p:spPr>
          <a:xfrm>
            <a:off x="7823200" y="2765723"/>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055243"/>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Dropped 99 ICD-9 stays → 122 ICD-10 stays</a:t>
            </a:r>
            <a:endParaRPr lang="en-US" sz="1200" dirty="0"/>
          </a:p>
        </p:txBody>
      </p:sp>
      <p:sp>
        <p:nvSpPr>
          <p:cNvPr id="12" name="Shape 10"/>
          <p:cNvSpPr/>
          <p:nvPr/>
        </p:nvSpPr>
        <p:spPr>
          <a:xfrm>
            <a:off x="7826375" y="3546078"/>
            <a:ext cx="3549650" cy="2273300"/>
          </a:xfrm>
          <a:prstGeom prst="roundRect">
            <a:avLst>
              <a:gd name="adj" fmla="val 3212"/>
            </a:avLst>
          </a:prstGeom>
          <a:solidFill>
            <a:srgbClr val="FFFFFF"/>
          </a:solidFill>
          <a:ln w="6350">
            <a:solidFill>
              <a:srgbClr val="E2E2DE"/>
            </a:solidFill>
            <a:prstDash val="solid"/>
          </a:ln>
        </p:spPr>
      </p:sp>
      <p:pic>
        <p:nvPicPr>
          <p:cNvPr id="13" name="Image 0" descr="Notebook bar chart: primary diagnosis by ICD-10 chapter; Symptoms and signs 41 stays, Circulatory 15, Injury and poisoning 13, the rest under 10">    </p:cNvPr>
          <p:cNvPicPr>
            <a:picLocks noChangeAspect="1"/>
          </p:cNvPicPr>
          <p:nvPr/>
        </p:nvPicPr>
        <p:blipFill>
          <a:blip r:embed="rId1"/>
          <a:srcRect l="-3" r="-3" t="0" b="0"/>
          <a:stretch/>
        </p:blipFill>
        <p:spPr>
          <a:xfrm>
            <a:off x="7905750" y="3625453"/>
            <a:ext cx="3048000" cy="2114550"/>
          </a:xfrm>
          <a:prstGeom prst="rect">
            <a:avLst/>
          </a:prstGeom>
        </p:spPr>
      </p:pic>
      <p:sp>
        <p:nvSpPr>
          <p:cNvPr id="14"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[7]–[9]</a:t>
            </a:r>
            <a:endParaRPr lang="en-US" sz="1200" dirty="0"/>
          </a:p>
        </p:txBody>
      </p:sp>
      <p:sp>
        <p:nvSpPr>
          <p:cNvPr id="15"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PROMPT (STEP 4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Each triage row becomes a short text summary that the model can read rather than a dataframe</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Missing values are written as "not recorded" instead of "nan" so that blanks don't confuse the model</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Turn a row into text</a:t>
            </a:r>
            <a:endParaRPr lang="en-US" sz="1600" dirty="0"/>
          </a:p>
        </p:txBody>
      </p:sp>
      <p:sp>
        <p:nvSpPr>
          <p:cNvPr id="8" name="Text 6"/>
          <p:cNvSpPr/>
          <p:nvPr/>
        </p:nvSpPr>
        <p:spPr>
          <a:xfrm>
            <a:off x="812800" y="2864396"/>
            <a:ext cx="6802120" cy="2798663"/>
          </a:xfrm>
          <a:prstGeom prst="rect">
            <a:avLst/>
          </a:prstGeom>
          <a:noFill/>
          <a:ln/>
        </p:spPr>
        <p:txBody>
          <a:bodyPr wrap="square" lIns="0" tIns="0" rIns="0" bIns="0" rtlCol="0" anchor="t">
            <a:normAutofit/>
          </a:bodyPr>
          <a:lstStyle/>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def show(x, unit=""):</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return "not recorded" if pd.isna(x) else f"{x}{unit}"</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def make_prompt(row) -&gt; str:</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sex = {"M": "male", "F": "female"}.get(row.gender,</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"sex not recorded")</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return (f"Age {row.anchor_age}, {sex}.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f"Arrived by {show(row.arrival_transport).lower()}.\n"</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f'Chief complaint: "{show(row.chiefcomplaint)}"\n'</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f"Triage vitals: T {show(row.temperature, '°F')},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f"HR {show(row.heartrate)}, RR {show(row.resprate)},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f"SpO2 {show(row.o2sat, '%')},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f"BP {show(row.sbp)}/{show(row.dbp)}.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f"Pain {show(row.pain)}/10. "</a:t>
            </a:r>
            <a:endParaRPr lang="en-US" sz="1200" dirty="0"/>
          </a:p>
          <a:p>
            <a:pPr algn="l" indent="0" marL="0">
              <a:lnSpc>
                <a:spcPts val="1560"/>
              </a:lnSpc>
              <a:buNone/>
            </a:pPr>
            <a:r>
              <a:rPr lang="en-US" sz="1200" dirty="0">
                <a:solidFill>
                  <a:srgbClr val="17212B"/>
                </a:solidFill>
                <a:latin typeface="Courier New" pitchFamily="49" charset="0"/>
                <a:ea typeface="Courier New" pitchFamily="49" charset="-122"/>
                <a:cs typeface="Courier New" pitchFamily="49" charset="-120"/>
              </a:rPr>
              <a:t>            f"ESI acuity {show(row.acuity)}.")</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105405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Age 83, female. Arrived by ambulance.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Chief complaint: "Syncope, Transfer"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Triage vitals: T 97.7°F, HR 74.0, RR 20.0, SpO2 96.0%, BP 133.0/65.0. Pain 3/10. ESI acuity 2.0.</a:t>
            </a:r>
            <a:endParaRPr lang="en-US" sz="1200" dirty="0"/>
          </a:p>
        </p:txBody>
      </p:sp>
      <p:sp>
        <p:nvSpPr>
          <p:cNvPr id="12" name="Text 10"/>
          <p:cNvSpPr/>
          <p:nvPr/>
        </p:nvSpPr>
        <p:spPr>
          <a:xfrm>
            <a:off x="7823200" y="401493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test cell after it should print "prompt tests pass".</a:t>
            </a:r>
            <a:endParaRPr lang="en-US" sz="1300" dirty="0"/>
          </a:p>
        </p:txBody>
      </p:sp>
      <p:sp>
        <p:nvSpPr>
          <p:cNvPr id="13"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[10]–[11]</a:t>
            </a:r>
            <a:endParaRPr lang="en-US" sz="12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Before running it, here is how the three prompting techniques differ</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Each technique changes only what the model sees before the question, so their scores can be compared directly</a:t>
            </a:r>
            <a:endParaRPr lang="en-US" sz="1500" dirty="0"/>
          </a:p>
        </p:txBody>
      </p:sp>
      <p:sp>
        <p:nvSpPr>
          <p:cNvPr id="6" name="Shape 4"/>
          <p:cNvSpPr/>
          <p:nvPr/>
        </p:nvSpPr>
        <p:spPr>
          <a:xfrm>
            <a:off x="812800" y="2560241"/>
            <a:ext cx="3318917" cy="0"/>
          </a:xfrm>
          <a:prstGeom prst="line">
            <a:avLst/>
          </a:prstGeom>
          <a:noFill/>
          <a:ln w="19050">
            <a:solidFill>
              <a:srgbClr val="17212B"/>
            </a:solidFill>
            <a:prstDash val="solid"/>
          </a:ln>
        </p:spPr>
      </p:sp>
      <p:sp>
        <p:nvSpPr>
          <p:cNvPr id="7" name="Text 5"/>
          <p:cNvSpPr/>
          <p:nvPr/>
        </p:nvSpPr>
        <p:spPr>
          <a:xfrm>
            <a:off x="812800" y="2671366"/>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Zero-shot</a:t>
            </a:r>
            <a:endParaRPr lang="en-US" sz="1600" dirty="0"/>
          </a:p>
        </p:txBody>
      </p:sp>
      <p:sp>
        <p:nvSpPr>
          <p:cNvPr id="8" name="Text 6"/>
          <p:cNvSpPr/>
          <p:nvPr/>
        </p:nvSpPr>
        <p:spPr>
          <a:xfrm>
            <a:off x="812800" y="2991396"/>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The model gets the instruction and the triage summary and nothing else.</a:t>
            </a:r>
            <a:endParaRPr lang="en-US" sz="1300" dirty="0"/>
          </a:p>
        </p:txBody>
      </p:sp>
      <p:sp>
        <p:nvSpPr>
          <p:cNvPr id="9" name="Text 7"/>
          <p:cNvSpPr/>
          <p:nvPr/>
        </p:nvSpPr>
        <p:spPr>
          <a:xfrm>
            <a:off x="812800" y="3546326"/>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This is the baseline, because it shows what the model knows on its own.</a:t>
            </a:r>
            <a:endParaRPr lang="en-US" sz="1300" dirty="0"/>
          </a:p>
        </p:txBody>
      </p:sp>
      <p:sp>
        <p:nvSpPr>
          <p:cNvPr id="10" name="Shape 8"/>
          <p:cNvSpPr/>
          <p:nvPr/>
        </p:nvSpPr>
        <p:spPr>
          <a:xfrm>
            <a:off x="4436517" y="2560241"/>
            <a:ext cx="3318966" cy="0"/>
          </a:xfrm>
          <a:prstGeom prst="line">
            <a:avLst/>
          </a:prstGeom>
          <a:noFill/>
          <a:ln w="19050">
            <a:solidFill>
              <a:srgbClr val="17212B"/>
            </a:solidFill>
            <a:prstDash val="solid"/>
          </a:ln>
        </p:spPr>
      </p:sp>
      <p:sp>
        <p:nvSpPr>
          <p:cNvPr id="11" name="Text 9"/>
          <p:cNvSpPr/>
          <p:nvPr/>
        </p:nvSpPr>
        <p:spPr>
          <a:xfrm>
            <a:off x="4436517" y="2671366"/>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Few-shot</a:t>
            </a:r>
            <a:endParaRPr lang="en-US" sz="1600" dirty="0"/>
          </a:p>
        </p:txBody>
      </p:sp>
      <p:sp>
        <p:nvSpPr>
          <p:cNvPr id="12" name="Text 10"/>
          <p:cNvSpPr/>
          <p:nvPr/>
        </p:nvSpPr>
        <p:spPr>
          <a:xfrm>
            <a:off x="4436517" y="2991396"/>
            <a:ext cx="3418535"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The model first sees three solved stays as earlier turns in the chat, and then the new stay.</a:t>
            </a:r>
            <a:endParaRPr lang="en-US" sz="1300" dirty="0"/>
          </a:p>
        </p:txBody>
      </p:sp>
      <p:sp>
        <p:nvSpPr>
          <p:cNvPr id="13" name="Text 11"/>
          <p:cNvSpPr/>
          <p:nvPr/>
        </p:nvSpPr>
        <p:spPr>
          <a:xfrm>
            <a:off x="4436517" y="3785691"/>
            <a:ext cx="3418535"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The examples show it the answer format and the kind of diagnosis the ED records.</a:t>
            </a:r>
            <a:endParaRPr lang="en-US" sz="1300" dirty="0"/>
          </a:p>
        </p:txBody>
      </p:sp>
      <p:sp>
        <p:nvSpPr>
          <p:cNvPr id="14" name="Shape 12"/>
          <p:cNvSpPr/>
          <p:nvPr/>
        </p:nvSpPr>
        <p:spPr>
          <a:xfrm>
            <a:off x="8060283" y="2560241"/>
            <a:ext cx="3318917" cy="0"/>
          </a:xfrm>
          <a:prstGeom prst="line">
            <a:avLst/>
          </a:prstGeom>
          <a:noFill/>
          <a:ln w="19050">
            <a:solidFill>
              <a:srgbClr val="17212B"/>
            </a:solidFill>
            <a:prstDash val="solid"/>
          </a:ln>
        </p:spPr>
      </p:sp>
      <p:sp>
        <p:nvSpPr>
          <p:cNvPr id="15" name="Text 13"/>
          <p:cNvSpPr/>
          <p:nvPr/>
        </p:nvSpPr>
        <p:spPr>
          <a:xfrm>
            <a:off x="8060283" y="2671366"/>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Chain-of-thought</a:t>
            </a:r>
            <a:endParaRPr lang="en-US" sz="1600" dirty="0"/>
          </a:p>
        </p:txBody>
      </p:sp>
      <p:sp>
        <p:nvSpPr>
          <p:cNvPr id="16" name="Text 14"/>
          <p:cNvSpPr/>
          <p:nvPr/>
        </p:nvSpPr>
        <p:spPr>
          <a:xfrm>
            <a:off x="8060283" y="2991396"/>
            <a:ext cx="3418484" cy="743496"/>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17212B"/>
                </a:solidFill>
                <a:latin typeface="Arial" pitchFamily="34" charset="0"/>
                <a:ea typeface="Arial" pitchFamily="34" charset="-122"/>
                <a:cs typeface="Arial" pitchFamily="34" charset="-120"/>
              </a:rPr>
              <a:t>This is zero-shot with an added "think step by step", and the model writes its reasoning before its answer.</a:t>
            </a:r>
            <a:endParaRPr lang="en-US" sz="1300" dirty="0"/>
          </a:p>
        </p:txBody>
      </p:sp>
      <p:sp>
        <p:nvSpPr>
          <p:cNvPr id="17" name="Text 15"/>
          <p:cNvSpPr/>
          <p:nvPr/>
        </p:nvSpPr>
        <p:spPr>
          <a:xfrm>
            <a:off x="8060283" y="3785691"/>
            <a:ext cx="3418484" cy="504130"/>
          </a:xfrm>
          <a:prstGeom prst="rect">
            <a:avLst/>
          </a:prstGeom>
          <a:noFill/>
          <a:ln/>
        </p:spPr>
        <p:txBody>
          <a:bodyPr wrap="square" lIns="0" tIns="0" rIns="0" bIns="0" rtlCol="0" anchor="t">
            <a:normAutofit/>
          </a:bodyPr>
          <a:lstStyle/>
          <a:p>
            <a:pPr algn="l" indent="0" marL="0">
              <a:lnSpc>
                <a:spcPts val="1885"/>
              </a:lnSpc>
              <a:buNone/>
            </a:pPr>
            <a:r>
              <a:rPr lang="en-US" sz="1300" dirty="0">
                <a:solidFill>
                  <a:srgbClr val="3A4651"/>
                </a:solidFill>
                <a:latin typeface="Arial" pitchFamily="34" charset="0"/>
                <a:ea typeface="Arial" pitchFamily="34" charset="-122"/>
                <a:cs typeface="Arial" pitchFamily="34" charset="-120"/>
              </a:rPr>
              <a:t>Reasoning first can help large models work through a problem, but it also takes longer.</a:t>
            </a:r>
            <a:endParaRPr lang="en-US" sz="1300" dirty="0"/>
          </a:p>
        </p:txBody>
      </p:sp>
      <p:sp>
        <p:nvSpPr>
          <p:cNvPr id="18" name="Shape 16"/>
          <p:cNvSpPr/>
          <p:nvPr/>
        </p:nvSpPr>
        <p:spPr>
          <a:xfrm>
            <a:off x="812800" y="4629547"/>
            <a:ext cx="10566400" cy="0"/>
          </a:xfrm>
          <a:prstGeom prst="line">
            <a:avLst/>
          </a:prstGeom>
          <a:noFill/>
          <a:ln w="19050">
            <a:solidFill>
              <a:srgbClr val="17212B"/>
            </a:solidFill>
            <a:prstDash val="solid"/>
          </a:ln>
        </p:spPr>
      </p:sp>
      <p:sp>
        <p:nvSpPr>
          <p:cNvPr id="19" name="Text 17"/>
          <p:cNvSpPr/>
          <p:nvPr/>
        </p:nvSpPr>
        <p:spPr>
          <a:xfrm>
            <a:off x="812800" y="4740672"/>
            <a:ext cx="1088339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actual prompt text</a:t>
            </a:r>
            <a:endParaRPr lang="en-US" sz="1600" dirty="0"/>
          </a:p>
        </p:txBody>
      </p:sp>
      <p:sp>
        <p:nvSpPr>
          <p:cNvPr id="20" name="Text 18"/>
          <p:cNvSpPr/>
          <p:nvPr/>
        </p:nvSpPr>
        <p:spPr>
          <a:xfrm>
            <a:off x="812800" y="5060702"/>
            <a:ext cx="10883392" cy="64259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SYSTEM = ("You review emergency department triage records. Give the single most likely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the ED will record and its ICD-10-CM code. Answer only in the JSON format requested.")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COT_HINT = "\nThink step by step in the reasoning field before giving the diagnosis."</a:t>
            </a:r>
            <a:endParaRPr lang="en-US" sz="1200" dirty="0"/>
          </a:p>
        </p:txBody>
      </p:sp>
      <p:sp>
        <p:nvSpPr>
          <p:cNvPr id="21" name="Text 19"/>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[12]</a:t>
            </a:r>
            <a:endParaRPr lang="en-US" sz="1200" dirty="0"/>
          </a:p>
        </p:txBody>
      </p:sp>
      <p:sp>
        <p:nvSpPr>
          <p:cNvPr id="22" name="Text 2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Few-shot examples are picked by a fixed rule, and their patients are kept out of scoring</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This keeps the comparison fair, because the model is never scored on a patient it has already been shown</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Pick the examples and the evaluation set</a:t>
            </a:r>
            <a:endParaRPr lang="en-US" sz="1600" dirty="0"/>
          </a:p>
        </p:txBody>
      </p:sp>
      <p:sp>
        <p:nvSpPr>
          <p:cNvPr id="8" name="Text 6"/>
          <p:cNvSpPr/>
          <p:nvPr/>
        </p:nvSpPr>
        <p:spPr>
          <a:xfrm>
            <a:off x="812800" y="2889796"/>
            <a:ext cx="6802120" cy="228843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top3 = cohort.true_chapter.value_counts().index[:3]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examples = (cohort[cohort.true_chapter.isin(top3)]</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.sort_values("stay_id").groupby("true_chapter").head(1))</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eval_df = cohort[~cohort.subject_id.isin(examples.subject_id)]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eval_df = eval_df.sample(n=min(N_CASES, len(eval_df)),</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random_state=SEED)</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print(examples[["stay_id", "chiefcomplaint",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"icd_code", "true_chapter"]])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print(f"Evaluating on {len(eval_df)} stays from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f"{eval_df.subject_id.nunique()} patients")</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125978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Fatigue, s/p Fall    R531</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MVC/INTUBATED TRAUMA S066X9A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Transfer             I313</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Evaluating on 94 stays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from 29 patients</a:t>
            </a:r>
            <a:endParaRPr lang="en-US" sz="1200" dirty="0"/>
          </a:p>
        </p:txBody>
      </p:sp>
      <p:sp>
        <p:nvSpPr>
          <p:cNvPr id="12" name="Text 10"/>
          <p:cNvSpPr/>
          <p:nvPr/>
        </p:nvSpPr>
        <p:spPr>
          <a:xfrm>
            <a:off x="7823200" y="422066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three examples come from the Symptoms, Injury and Circulatory chapters.</a:t>
            </a:r>
            <a:endParaRPr lang="en-US" sz="1300" dirty="0"/>
          </a:p>
        </p:txBody>
      </p:sp>
      <p:sp>
        <p:nvSpPr>
          <p:cNvPr id="13" name="Text 11"/>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[13]</a:t>
            </a:r>
            <a:endParaRPr lang="en-US" sz="1200" dirty="0"/>
          </a:p>
        </p:txBody>
      </p:sp>
      <p:sp>
        <p:nvSpPr>
          <p:cNvPr id="14" name="Text 12"/>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One function builds every prompt, so the only difference between techniques is the messages it adds</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Few-shot adds three solved examples as earlier chat turns, chain-of-thought adds one sentence and zero-shot adds nothing</a:t>
            </a:r>
            <a:endParaRPr lang="en-US" sz="1500" dirty="0"/>
          </a:p>
        </p:txBody>
      </p:sp>
      <p:sp>
        <p:nvSpPr>
          <p:cNvPr id="6" name="Shape 4"/>
          <p:cNvSpPr/>
          <p:nvPr/>
        </p:nvSpPr>
        <p:spPr>
          <a:xfrm>
            <a:off x="812800" y="2715816"/>
            <a:ext cx="6604000" cy="0"/>
          </a:xfrm>
          <a:prstGeom prst="line">
            <a:avLst/>
          </a:prstGeom>
          <a:noFill/>
          <a:ln w="19050">
            <a:solidFill>
              <a:srgbClr val="17212B"/>
            </a:solidFill>
            <a:prstDash val="solid"/>
          </a:ln>
        </p:spPr>
      </p:sp>
      <p:sp>
        <p:nvSpPr>
          <p:cNvPr id="7" name="Text 5"/>
          <p:cNvSpPr/>
          <p:nvPr/>
        </p:nvSpPr>
        <p:spPr>
          <a:xfrm>
            <a:off x="812800" y="28269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Build the messages</a:t>
            </a:r>
            <a:endParaRPr lang="en-US" sz="1600" dirty="0"/>
          </a:p>
        </p:txBody>
      </p:sp>
      <p:sp>
        <p:nvSpPr>
          <p:cNvPr id="8" name="Text 6"/>
          <p:cNvSpPr/>
          <p:nvPr/>
        </p:nvSpPr>
        <p:spPr>
          <a:xfrm>
            <a:off x="812800" y="3146971"/>
            <a:ext cx="6802120" cy="228843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build_messages(row, technique: str) -&gt; list[dict]: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 = [{"role": "system", "content": SYSTEM}]</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if technique == "few_shot":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_, ex in examples.iterrows():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"user", "content": make_prompt(ex)})</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"assistant", "content":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Answer(diagnosis=ex.icd_title,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icd10=ex.icd_code).model_dump_json()})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 make_prompt(row) + (COT_HINT if technique == "cot" else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msgs.append({"role": "user", "content": user})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msgs</a:t>
            </a:r>
            <a:endParaRPr lang="en-US" sz="1200" dirty="0"/>
          </a:p>
        </p:txBody>
      </p:sp>
      <p:sp>
        <p:nvSpPr>
          <p:cNvPr id="9" name="Shape 7"/>
          <p:cNvSpPr/>
          <p:nvPr/>
        </p:nvSpPr>
        <p:spPr>
          <a:xfrm>
            <a:off x="7823200" y="2715816"/>
            <a:ext cx="3556000" cy="0"/>
          </a:xfrm>
          <a:prstGeom prst="line">
            <a:avLst/>
          </a:prstGeom>
          <a:noFill/>
          <a:ln w="19050">
            <a:solidFill>
              <a:srgbClr val="0E6E6C"/>
            </a:solidFill>
            <a:prstDash val="solid"/>
          </a:ln>
        </p:spPr>
      </p:sp>
      <p:sp>
        <p:nvSpPr>
          <p:cNvPr id="10" name="Text 8"/>
          <p:cNvSpPr/>
          <p:nvPr/>
        </p:nvSpPr>
        <p:spPr>
          <a:xfrm>
            <a:off x="7823200" y="28269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3116461"/>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Run this line in a new cell to list the roles in a few-shot prompt.</a:t>
            </a:r>
            <a:endParaRPr lang="en-US" sz="1300" dirty="0"/>
          </a:p>
        </p:txBody>
      </p:sp>
      <p:sp>
        <p:nvSpPr>
          <p:cNvPr id="12" name="Text 10"/>
          <p:cNvSpPr/>
          <p:nvPr/>
        </p:nvSpPr>
        <p:spPr>
          <a:xfrm>
            <a:off x="7823200" y="3654921"/>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[m["role"] for m in build_messages(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eval_df.iloc[0], "few_shot")]</a:t>
            </a:r>
            <a:endParaRPr lang="en-US" sz="1200" dirty="0"/>
          </a:p>
        </p:txBody>
      </p:sp>
      <p:sp>
        <p:nvSpPr>
          <p:cNvPr id="13" name="Text 11"/>
          <p:cNvSpPr/>
          <p:nvPr/>
        </p:nvSpPr>
        <p:spPr>
          <a:xfrm>
            <a:off x="7823200" y="4142581"/>
            <a:ext cx="3662680" cy="105405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['system',</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 'assistant',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'user']</a:t>
            </a:r>
            <a:endParaRPr lang="en-US" sz="1200" dirty="0"/>
          </a:p>
        </p:txBody>
      </p:sp>
      <p:sp>
        <p:nvSpPr>
          <p:cNvPr id="14" name="Text 12"/>
          <p:cNvSpPr/>
          <p:nvPr/>
        </p:nvSpPr>
        <p:spPr>
          <a:xfrm>
            <a:off x="7823200" y="5298232"/>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Zero-shot and chain-of-thought prompts have only two, the system message and the new stay.</a:t>
            </a:r>
            <a:endParaRPr lang="en-US" sz="1300" dirty="0"/>
          </a:p>
        </p:txBody>
      </p:sp>
      <p:sp>
        <p:nvSpPr>
          <p:cNvPr id="15" name="Text 13"/>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[12]</a:t>
            </a:r>
            <a:endParaRPr lang="en-US" sz="1200" dirty="0"/>
          </a:p>
        </p:txBody>
      </p:sp>
      <p:sp>
        <p:nvSpPr>
          <p:cNvPr id="16" name="Text 14"/>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One function sends each prompt to Ollama and checks the answer against a Pydantic schema</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Passing the schema to format= makes the model return JSON, and any answer that fails to parse is counted as wrong</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Ask and validate</a:t>
            </a:r>
            <a:endParaRPr lang="en-US" sz="1600" dirty="0"/>
          </a:p>
        </p:txBody>
      </p:sp>
      <p:sp>
        <p:nvSpPr>
          <p:cNvPr id="8" name="Text 6"/>
          <p:cNvSpPr/>
          <p:nvPr/>
        </p:nvSpPr>
        <p:spPr>
          <a:xfrm>
            <a:off x="812800" y="2889796"/>
            <a:ext cx="6802120" cy="269989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def ask(row, technique: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schema = AnswerCoT if technique == "cot" else Answer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resp = ollama.chat(model=MODEL,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messages=build_messages(row,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format=schema.model_json_schema(),</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options={"temperature": 0, "seed": SEED,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"num_predict": 512})</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try:</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 = schema.model_validate_json(resp.message.content)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(a.diagnosis, a.icd10,</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getattr(a, "reasoning", None), True)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except ValidationError: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return None, None, None, False</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436860"/>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few_shot ('Corneal ulcer of eye, unspecified', 'H56.1', None, True)</a:t>
            </a:r>
            <a:endParaRPr lang="en-US" sz="1200" dirty="0"/>
          </a:p>
        </p:txBody>
      </p:sp>
      <p:sp>
        <p:nvSpPr>
          <p:cNvPr id="12" name="Text 10"/>
          <p:cNvSpPr/>
          <p:nvPr/>
        </p:nvSpPr>
        <p:spPr>
          <a:xfrm>
            <a:off x="7823200" y="3448546"/>
            <a:ext cx="366268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The answer schemas</a:t>
            </a:r>
            <a:endParaRPr lang="en-US" sz="1600" dirty="0"/>
          </a:p>
        </p:txBody>
      </p:sp>
      <p:sp>
        <p:nvSpPr>
          <p:cNvPr id="13" name="Text 11"/>
          <p:cNvSpPr/>
          <p:nvPr/>
        </p:nvSpPr>
        <p:spPr>
          <a:xfrm>
            <a:off x="7823200" y="3768576"/>
            <a:ext cx="3662680" cy="146551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class Answer(BaseModel):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class AnswerCoT(BaseModel):</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reasoning: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diagnosis: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icd10: str</a:t>
            </a:r>
            <a:endParaRPr lang="en-US" sz="1200" dirty="0"/>
          </a:p>
        </p:txBody>
      </p:sp>
      <p:sp>
        <p:nvSpPr>
          <p:cNvPr id="14" name="Text 12"/>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[12] and [14]</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ASK THE MODEL (STEP 5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 full run asks all three prompts about the same 94 stays, which takes about 10 minutes</a:t>
            </a:r>
            <a:endParaRPr lang="en-US" sz="2600" dirty="0"/>
          </a:p>
        </p:txBody>
      </p:sp>
      <p:sp>
        <p:nvSpPr>
          <p:cNvPr id="4" name="Shape 2"/>
          <p:cNvSpPr/>
          <p:nvPr/>
        </p:nvSpPr>
        <p:spPr>
          <a:xfrm>
            <a:off x="825500" y="1937941"/>
            <a:ext cx="0" cy="257175"/>
          </a:xfrm>
          <a:prstGeom prst="line">
            <a:avLst/>
          </a:prstGeom>
          <a:noFill/>
          <a:ln w="25400">
            <a:solidFill>
              <a:srgbClr val="0E6E6C"/>
            </a:solidFill>
            <a:prstDash val="solid"/>
          </a:ln>
        </p:spPr>
      </p:sp>
      <p:sp>
        <p:nvSpPr>
          <p:cNvPr id="5" name="Text 3"/>
          <p:cNvSpPr/>
          <p:nvPr/>
        </p:nvSpPr>
        <p:spPr>
          <a:xfrm>
            <a:off x="965200" y="1937941"/>
            <a:ext cx="10307828" cy="282575"/>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Chain-of-thought takes about five times longer than the other two because it writes out its reasoning first</a:t>
            </a:r>
            <a:endParaRPr lang="en-US" sz="1500" dirty="0"/>
          </a:p>
        </p:txBody>
      </p:sp>
      <p:sp>
        <p:nvSpPr>
          <p:cNvPr id="6" name="Shape 4"/>
          <p:cNvSpPr/>
          <p:nvPr/>
        </p:nvSpPr>
        <p:spPr>
          <a:xfrm>
            <a:off x="812800" y="2458641"/>
            <a:ext cx="6604000" cy="0"/>
          </a:xfrm>
          <a:prstGeom prst="line">
            <a:avLst/>
          </a:prstGeom>
          <a:noFill/>
          <a:ln w="19050">
            <a:solidFill>
              <a:srgbClr val="17212B"/>
            </a:solidFill>
            <a:prstDash val="solid"/>
          </a:ln>
        </p:spPr>
      </p:sp>
      <p:sp>
        <p:nvSpPr>
          <p:cNvPr id="7" name="Text 5"/>
          <p:cNvSpPr/>
          <p:nvPr/>
        </p:nvSpPr>
        <p:spPr>
          <a:xfrm>
            <a:off x="812800" y="2569766"/>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Run every stay through every technique</a:t>
            </a:r>
            <a:endParaRPr lang="en-US" sz="1600" dirty="0"/>
          </a:p>
        </p:txBody>
      </p:sp>
      <p:sp>
        <p:nvSpPr>
          <p:cNvPr id="8" name="Text 6"/>
          <p:cNvSpPr/>
          <p:nvPr/>
        </p:nvSpPr>
        <p:spPr>
          <a:xfrm>
            <a:off x="812800" y="2889796"/>
            <a:ext cx="6802120" cy="269989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TECHNIQUES = ["zero_shot", "few_shot", "cot"]</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rows = []</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for technique in TECHNIQUES:</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for _, row in tqdm(eval_df.iterrows(), total=len(eval_df),</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desc=technique):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dx, code, reasoning, ok = ask(row,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rows.append({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"stay_id": row.stay_id, "technique": technique,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"true_code": row.icd_code,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"true_chapter": row.true_chapter,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"pred_diagnosis": dx, "pred_code": code,</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"reasoning": reasoning, "parse_ok": ok})</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 = pd.DataFrame(rows)</a:t>
            </a:r>
            <a:endParaRPr lang="en-US" sz="1200" dirty="0"/>
          </a:p>
        </p:txBody>
      </p:sp>
      <p:sp>
        <p:nvSpPr>
          <p:cNvPr id="9" name="Shape 7"/>
          <p:cNvSpPr/>
          <p:nvPr/>
        </p:nvSpPr>
        <p:spPr>
          <a:xfrm>
            <a:off x="7823200" y="2458641"/>
            <a:ext cx="3556000" cy="0"/>
          </a:xfrm>
          <a:prstGeom prst="line">
            <a:avLst/>
          </a:prstGeom>
          <a:noFill/>
          <a:ln w="19050">
            <a:solidFill>
              <a:srgbClr val="0E6E6C"/>
            </a:solidFill>
            <a:prstDash val="solid"/>
          </a:ln>
        </p:spPr>
      </p:sp>
      <p:sp>
        <p:nvSpPr>
          <p:cNvPr id="10" name="Text 8"/>
          <p:cNvSpPr/>
          <p:nvPr/>
        </p:nvSpPr>
        <p:spPr>
          <a:xfrm>
            <a:off x="7823200" y="2569766"/>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sp>
        <p:nvSpPr>
          <p:cNvPr id="11" name="Text 9"/>
          <p:cNvSpPr/>
          <p:nvPr/>
        </p:nvSpPr>
        <p:spPr>
          <a:xfrm>
            <a:off x="7823200" y="2859286"/>
            <a:ext cx="3662680"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zero_shot: 100% 94/94 [01:28]</a:t>
            </a:r>
            <a:endParaRPr lang="en-US" sz="1200" dirty="0"/>
          </a:p>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few_shot:  100% 94/94 [01:07]</a:t>
            </a:r>
            <a:endParaRPr lang="en-US" sz="1200" dirty="0"/>
          </a:p>
          <a:p>
            <a:pPr algn="l" indent="0" marL="0">
              <a:lnSpc>
                <a:spcPts val="1800"/>
              </a:lnSpc>
              <a:buNone/>
            </a:pPr>
            <a:r>
              <a:rPr lang="en-US" sz="1200" dirty="0">
                <a:solidFill>
                  <a:srgbClr val="17212B"/>
                </a:solidFill>
                <a:latin typeface="Courier New" pitchFamily="49" charset="0"/>
                <a:ea typeface="Courier New" pitchFamily="49" charset="-122"/>
                <a:cs typeface="Courier New" pitchFamily="49" charset="-120"/>
              </a:rPr>
              <a:t>cot:       100% 94/94 [07:07]</a:t>
            </a:r>
            <a:endParaRPr lang="en-US" sz="1200" dirty="0"/>
          </a:p>
        </p:txBody>
      </p:sp>
      <p:sp>
        <p:nvSpPr>
          <p:cNvPr id="12" name="Text 10"/>
          <p:cNvSpPr/>
          <p:nvPr/>
        </p:nvSpPr>
        <p:spPr>
          <a:xfrm>
            <a:off x="7823200" y="3672086"/>
            <a:ext cx="3662680"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Three progress bars appear, one for each technique, followed by the first rows of the results table.</a:t>
            </a:r>
            <a:endParaRPr lang="en-US" sz="1300" dirty="0"/>
          </a:p>
        </p:txBody>
      </p:sp>
      <p:sp>
        <p:nvSpPr>
          <p:cNvPr id="13" name="Text 11"/>
          <p:cNvSpPr/>
          <p:nvPr/>
        </p:nvSpPr>
        <p:spPr>
          <a:xfrm>
            <a:off x="7823200" y="4441676"/>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If the run is too slow on your machine, lower N_CASES in the config cell and run it again.</a:t>
            </a:r>
            <a:endParaRPr lang="en-US" sz="1300" dirty="0"/>
          </a:p>
        </p:txBody>
      </p:sp>
      <p:sp>
        <p:nvSpPr>
          <p:cNvPr id="14" name="Text 12"/>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[15]</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SCORE (STEP 6 OF 7)</a:t>
            </a:r>
            <a:endParaRPr lang="en-US" sz="1200" dirty="0"/>
          </a:p>
        </p:txBody>
      </p:sp>
      <p:sp>
        <p:nvSpPr>
          <p:cNvPr id="3" name="Text 1"/>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Each answer is scored by its ICD-10 chapter and checked against the code dictionary</a:t>
            </a:r>
            <a:endParaRPr lang="en-US" sz="2600" dirty="0"/>
          </a:p>
        </p:txBody>
      </p:sp>
      <p:sp>
        <p:nvSpPr>
          <p:cNvPr id="4" name="Shape 2"/>
          <p:cNvSpPr/>
          <p:nvPr/>
        </p:nvSpPr>
        <p:spPr>
          <a:xfrm>
            <a:off x="825500" y="1937941"/>
            <a:ext cx="0" cy="514350"/>
          </a:xfrm>
          <a:prstGeom prst="line">
            <a:avLst/>
          </a:prstGeom>
          <a:noFill/>
          <a:ln w="25400">
            <a:solidFill>
              <a:srgbClr val="0E6E6C"/>
            </a:solidFill>
            <a:prstDash val="solid"/>
          </a:ln>
        </p:spPr>
      </p:sp>
      <p:sp>
        <p:nvSpPr>
          <p:cNvPr id="5" name="Text 3"/>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Accuracy and the invented-code rate are measured separately, because a made-up code can still land in the right chapter</a:t>
            </a:r>
            <a:endParaRPr lang="en-US" sz="1500" dirty="0"/>
          </a:p>
        </p:txBody>
      </p:sp>
      <p:sp>
        <p:nvSpPr>
          <p:cNvPr id="6" name="Shape 4"/>
          <p:cNvSpPr/>
          <p:nvPr/>
        </p:nvSpPr>
        <p:spPr>
          <a:xfrm>
            <a:off x="812800" y="2715816"/>
            <a:ext cx="6604000" cy="0"/>
          </a:xfrm>
          <a:prstGeom prst="line">
            <a:avLst/>
          </a:prstGeom>
          <a:noFill/>
          <a:ln w="19050">
            <a:solidFill>
              <a:srgbClr val="17212B"/>
            </a:solidFill>
            <a:prstDash val="solid"/>
          </a:ln>
        </p:spPr>
      </p:sp>
      <p:sp>
        <p:nvSpPr>
          <p:cNvPr id="7" name="Text 5"/>
          <p:cNvSpPr/>
          <p:nvPr/>
        </p:nvSpPr>
        <p:spPr>
          <a:xfrm>
            <a:off x="812800" y="2826941"/>
            <a:ext cx="6802120"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Score each prompt</a:t>
            </a:r>
            <a:endParaRPr lang="en-US" sz="1600" dirty="0"/>
          </a:p>
        </p:txBody>
      </p:sp>
      <p:sp>
        <p:nvSpPr>
          <p:cNvPr id="8" name="Text 6"/>
          <p:cNvSpPr/>
          <p:nvPr/>
        </p:nvSpPr>
        <p:spPr>
          <a:xfrm>
            <a:off x="812800" y="3146971"/>
            <a:ext cx="6802120" cy="2494161"/>
          </a:xfrm>
          <a:prstGeom prst="rect">
            <a:avLst/>
          </a:prstGeom>
          <a:noFill/>
          <a:ln/>
        </p:spPr>
        <p:txBody>
          <a:bodyPr wrap="square" lIns="0" tIns="0" rIns="0" bIns="0" rtlCol="0" anchor="t">
            <a:normAutofit/>
          </a:bodyPr>
          <a:lstStyle/>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results["pred_chapter"] = results.pred_code.map(</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lambda c: icd10_chapter(c) if isinstance(c,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else "Parse failed")</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results["correct"] = results.pred_chapter == results.true_chapter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results["valid_code"] = results.pred_code.map(</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lambda c: clean_code(c) in valid_icd10 if isinstance(c, str)</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else np.nan).astype(float)</a:t>
            </a:r>
            <a:endParaRPr lang="en-US" sz="1200" dirty="0"/>
          </a:p>
          <a:p>
            <a:pPr algn="l" indent="0" marL="0">
              <a:lnSpc>
                <a:spcPts val="1620"/>
              </a:lnSpc>
              <a:buNone/>
            </a:pP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summary = results.groupby("technique", sort=False).agg(</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accuracy=("correct", "mean"),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invented_code=("valid_code", lambda v: 1 - v.mean()),</a:t>
            </a:r>
            <a:endParaRPr lang="en-US" sz="1200" dirty="0"/>
          </a:p>
          <a:p>
            <a:pPr algn="l" indent="0" marL="0">
              <a:lnSpc>
                <a:spcPts val="1620"/>
              </a:lnSpc>
              <a:buNone/>
            </a:pPr>
            <a:r>
              <a:rPr lang="en-US" sz="1200" dirty="0">
                <a:solidFill>
                  <a:srgbClr val="17212B"/>
                </a:solidFill>
                <a:latin typeface="Courier New" pitchFamily="49" charset="0"/>
                <a:ea typeface="Courier New" pitchFamily="49" charset="-122"/>
                <a:cs typeface="Courier New" pitchFamily="49" charset="-120"/>
              </a:rPr>
              <a:t>    parse_failed=("parse_ok", lambda v: 1 - v.mean()))</a:t>
            </a:r>
            <a:endParaRPr lang="en-US" sz="1200" dirty="0"/>
          </a:p>
        </p:txBody>
      </p:sp>
      <p:sp>
        <p:nvSpPr>
          <p:cNvPr id="9" name="Shape 7"/>
          <p:cNvSpPr/>
          <p:nvPr/>
        </p:nvSpPr>
        <p:spPr>
          <a:xfrm>
            <a:off x="7823200" y="2715816"/>
            <a:ext cx="3556000" cy="0"/>
          </a:xfrm>
          <a:prstGeom prst="line">
            <a:avLst/>
          </a:prstGeom>
          <a:noFill/>
          <a:ln w="19050">
            <a:solidFill>
              <a:srgbClr val="0E6E6C"/>
            </a:solidFill>
            <a:prstDash val="solid"/>
          </a:ln>
        </p:spPr>
      </p:sp>
      <p:sp>
        <p:nvSpPr>
          <p:cNvPr id="10" name="Text 8"/>
          <p:cNvSpPr/>
          <p:nvPr/>
        </p:nvSpPr>
        <p:spPr>
          <a:xfrm>
            <a:off x="7823200" y="2826941"/>
            <a:ext cx="3662680"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YOU SHOULD SEE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835900" y="3129161"/>
          <a:ext cx="3543300" cy="1310481"/>
        </p:xfrm>
        <a:graphic>
          <a:graphicData uri="http://schemas.openxmlformats.org/drawingml/2006/table">
            <a:tbl>
              <a:tblPr/>
              <a:tblGrid>
                <a:gridCol w="885825"/>
                <a:gridCol w="885825"/>
                <a:gridCol w="885825"/>
                <a:gridCol w="885825"/>
              </a:tblGrid>
              <a:tr h="327620">
                <a:tc>
                  <a:txBody>
                    <a:bodyPr/>
                    <a:lstStyle/>
                    <a:p>
                      <a:pPr indent="0" marL="0">
                        <a:lnSpc>
                          <a:spcPts val="1680"/>
                        </a:lnSpc>
                        <a:buNone/>
                      </a:pPr>
                      <a:r>
                        <a:rPr lang="en-US" sz="1200" b="1" dirty="0">
                          <a:solidFill>
                            <a:srgbClr val="17212B"/>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acc.</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invented</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parse</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zero_shot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few_shot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cot</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2" name="Text 9"/>
          <p:cNvSpPr/>
          <p:nvPr/>
        </p:nvSpPr>
        <p:spPr>
          <a:xfrm>
            <a:off x="7823200" y="4566642"/>
            <a:ext cx="3662680"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next slide reads these numbers alongside the notebook's charts.</a:t>
            </a:r>
            <a:endParaRPr lang="en-US" sz="1300" dirty="0"/>
          </a:p>
        </p:txBody>
      </p:sp>
      <p:sp>
        <p:nvSpPr>
          <p:cNvPr id="13" name="Text 10"/>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 [16]</a:t>
            </a:r>
            <a:endParaRPr lang="en-US" sz="1200" dirty="0"/>
          </a:p>
        </p:txBody>
      </p:sp>
      <p:sp>
        <p:nvSpPr>
          <p:cNvPr id="14" name="Text 11"/>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4007"/>
          </a:xfrm>
          <a:prstGeom prst="rect">
            <a:avLst/>
          </a:prstGeom>
          <a:noFill/>
          <a:ln/>
        </p:spPr>
        <p:txBody>
          <a:bodyPr wrap="square" lIns="0" tIns="0" rIns="0" bIns="0" rtlCol="0" anchor="t">
            <a:normAutofit/>
          </a:bodyPr>
          <a:lstStyle/>
          <a:p>
            <a:pPr algn="l" indent="0" marL="0">
              <a:lnSpc>
                <a:spcPts val="1675"/>
              </a:lnSpc>
              <a:buNone/>
            </a:pPr>
            <a:r>
              <a:rPr lang="en-US" sz="1196" spc="100" kern="0" dirty="0">
                <a:solidFill>
                  <a:srgbClr val="0E6E6C"/>
                </a:solidFill>
                <a:latin typeface="Arial" pitchFamily="34" charset="0"/>
                <a:ea typeface="Arial" pitchFamily="34" charset="-122"/>
                <a:cs typeface="Arial" pitchFamily="34" charset="-120"/>
              </a:rPr>
              <a:t>RESULTS (STEP 7 OF 7)</a:t>
            </a:r>
            <a:endParaRPr lang="en-US" sz="1196" dirty="0"/>
          </a:p>
        </p:txBody>
      </p:sp>
      <p:sp>
        <p:nvSpPr>
          <p:cNvPr id="3" name="Text 1"/>
          <p:cNvSpPr/>
          <p:nvPr>
            <p:ph type="title"/>
          </p:nvPr>
        </p:nvSpPr>
        <p:spPr>
          <a:xfrm>
            <a:off x="812800" y="1097607"/>
            <a:ext cx="10464800" cy="768102"/>
          </a:xfrm>
          <a:prstGeom prst="rect">
            <a:avLst/>
          </a:prstGeom>
          <a:noFill/>
          <a:ln/>
        </p:spPr>
        <p:txBody>
          <a:bodyPr wrap="square" lIns="0" tIns="0" rIns="0" bIns="0" rtlCol="0" anchor="t">
            <a:normAutofit/>
          </a:bodyPr>
          <a:lstStyle/>
          <a:p>
            <a:pPr algn="l" indent="0" marL="0">
              <a:lnSpc>
                <a:spcPts val="2934"/>
              </a:lnSpc>
              <a:buNone/>
            </a:pPr>
            <a:r>
              <a:rPr lang="en-US" sz="2551" b="1" i="0" dirty="0">
                <a:solidFill>
                  <a:srgbClr val="17212B"/>
                </a:solidFill>
                <a:latin typeface="Arial" pitchFamily="34" charset="0"/>
                <a:ea typeface="Arial" pitchFamily="34" charset="-122"/>
                <a:cs typeface="Arial" pitchFamily="34" charset="-120"/>
              </a:rPr>
              <a:t>None of the techniques clearly beat zero-shot, and chain-of-thought did worst</a:t>
            </a:r>
            <a:endParaRPr lang="en-US" sz="2551" dirty="0"/>
          </a:p>
        </p:txBody>
      </p:sp>
      <p:sp>
        <p:nvSpPr>
          <p:cNvPr id="4" name="Shape 2"/>
          <p:cNvSpPr/>
          <p:nvPr/>
        </p:nvSpPr>
        <p:spPr>
          <a:xfrm>
            <a:off x="825500" y="1916509"/>
            <a:ext cx="0" cy="503039"/>
          </a:xfrm>
          <a:prstGeom prst="line">
            <a:avLst/>
          </a:prstGeom>
          <a:noFill/>
          <a:ln w="25400">
            <a:solidFill>
              <a:srgbClr val="0E6E6C"/>
            </a:solidFill>
            <a:prstDash val="solid"/>
          </a:ln>
        </p:spPr>
      </p:sp>
      <p:sp>
        <p:nvSpPr>
          <p:cNvPr id="5" name="Text 3"/>
          <p:cNvSpPr/>
          <p:nvPr/>
        </p:nvSpPr>
        <p:spPr>
          <a:xfrm>
            <a:off x="965200" y="1916509"/>
            <a:ext cx="10307828" cy="528439"/>
          </a:xfrm>
          <a:prstGeom prst="rect">
            <a:avLst/>
          </a:prstGeom>
          <a:noFill/>
          <a:ln/>
        </p:spPr>
        <p:txBody>
          <a:bodyPr wrap="square" lIns="0" tIns="0" rIns="0" bIns="0" rtlCol="0" anchor="t">
            <a:normAutofit/>
          </a:bodyPr>
          <a:lstStyle/>
          <a:p>
            <a:pPr algn="l" indent="0" marL="0">
              <a:lnSpc>
                <a:spcPts val="1987"/>
              </a:lnSpc>
              <a:buNone/>
            </a:pPr>
            <a:r>
              <a:rPr lang="en-US" sz="1472" dirty="0">
                <a:solidFill>
                  <a:srgbClr val="3A4651"/>
                </a:solidFill>
                <a:latin typeface="Arial" pitchFamily="34" charset="0"/>
                <a:ea typeface="Arial" pitchFamily="34" charset="-122"/>
                <a:cs typeface="Arial" pitchFamily="34" charset="-120"/>
              </a:rPr>
              <a:t>Adding examples didn't make the model more accurate, and the ±10-point noise is larger than any gap between the prompts</a:t>
            </a:r>
            <a:endParaRPr lang="en-US" sz="1472" dirty="0"/>
          </a:p>
        </p:txBody>
      </p:sp>
      <p:sp>
        <p:nvSpPr>
          <p:cNvPr id="6" name="Shape 4"/>
          <p:cNvSpPr/>
          <p:nvPr/>
        </p:nvSpPr>
        <p:spPr>
          <a:xfrm>
            <a:off x="815975" y="2676723"/>
            <a:ext cx="3257550" cy="2647950"/>
          </a:xfrm>
          <a:prstGeom prst="roundRect">
            <a:avLst>
              <a:gd name="adj" fmla="val 2758"/>
            </a:avLst>
          </a:prstGeom>
          <a:solidFill>
            <a:srgbClr val="FFFFFF"/>
          </a:solidFill>
          <a:ln w="6350">
            <a:solidFill>
              <a:srgbClr val="E2E2DE"/>
            </a:solidFill>
            <a:prstDash val="solid"/>
          </a:ln>
        </p:spPr>
      </p:sp>
      <p:pic>
        <p:nvPicPr>
          <p:cNvPr id="7" name="Image 0" descr="Notebook bar chart: chapter accuracy by prompt, n = 94 ED stays; zero-shot 31%, few-shot 30%, CoT 24%">    </p:cNvPr>
          <p:cNvPicPr>
            <a:picLocks noChangeAspect="1"/>
          </p:cNvPicPr>
          <p:nvPr/>
        </p:nvPicPr>
        <p:blipFill>
          <a:blip r:embed="rId1"/>
          <a:srcRect l="-44" r="-44" t="0" b="0"/>
          <a:stretch/>
        </p:blipFill>
        <p:spPr>
          <a:xfrm>
            <a:off x="920750" y="2781498"/>
            <a:ext cx="3048000" cy="2438400"/>
          </a:xfrm>
          <a:prstGeom prst="rect">
            <a:avLst/>
          </a:prstGeom>
        </p:spPr>
      </p:pic>
      <p:sp>
        <p:nvSpPr>
          <p:cNvPr id="8" name="Shape 5"/>
          <p:cNvSpPr/>
          <p:nvPr/>
        </p:nvSpPr>
        <p:spPr>
          <a:xfrm>
            <a:off x="4333875" y="2676723"/>
            <a:ext cx="3079750" cy="2647950"/>
          </a:xfrm>
          <a:prstGeom prst="roundRect">
            <a:avLst>
              <a:gd name="adj" fmla="val 2758"/>
            </a:avLst>
          </a:prstGeom>
          <a:solidFill>
            <a:srgbClr val="FFFFFF"/>
          </a:solidFill>
          <a:ln w="6350">
            <a:solidFill>
              <a:srgbClr val="E2E2DE"/>
            </a:solidFill>
            <a:prstDash val="solid"/>
          </a:ln>
        </p:spPr>
      </p:sp>
      <p:pic>
        <p:nvPicPr>
          <p:cNvPr id="9" name="Image 1" descr="Notebook confusion matrix for zero-shot: the largest error is true Symptoms and signs predicted as Circulatory (7 stays)">    </p:cNvPr>
          <p:cNvPicPr>
            <a:picLocks noChangeAspect="1"/>
          </p:cNvPicPr>
          <p:nvPr/>
        </p:nvPicPr>
        <p:blipFill>
          <a:blip r:embed="rId2"/>
          <a:srcRect l="0" r="0" t="-81" b="-81"/>
          <a:stretch/>
        </p:blipFill>
        <p:spPr>
          <a:xfrm>
            <a:off x="4438650" y="2781498"/>
            <a:ext cx="2870200" cy="243840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683500" y="2686248"/>
          <a:ext cx="3670300" cy="1737122"/>
        </p:xfrm>
        <a:graphic>
          <a:graphicData uri="http://schemas.openxmlformats.org/drawingml/2006/table">
            <a:tbl>
              <a:tblPr/>
              <a:tblGrid>
                <a:gridCol w="917575"/>
                <a:gridCol w="917575"/>
                <a:gridCol w="917575"/>
                <a:gridCol w="917575"/>
              </a:tblGrid>
              <a:tr h="327620">
                <a:tc>
                  <a:txBody>
                    <a:bodyPr/>
                    <a:lstStyle/>
                    <a:p>
                      <a:pPr indent="0" marL="0">
                        <a:lnSpc>
                          <a:spcPts val="1680"/>
                        </a:lnSpc>
                        <a:buNone/>
                      </a:pP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Zero</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Few</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c>
                  <a:txBody>
                    <a:bodyPr/>
                    <a:lstStyle/>
                    <a:p>
                      <a:pPr algn="r" indent="0" marL="0">
                        <a:lnSpc>
                          <a:spcPts val="1680"/>
                        </a:lnSpc>
                        <a:buNone/>
                      </a:pPr>
                      <a:r>
                        <a:rPr lang="en-US" sz="1200" b="1" dirty="0">
                          <a:solidFill>
                            <a:srgbClr val="17212B"/>
                          </a:solidFill>
                          <a:latin typeface="Arial" pitchFamily="34" charset="0"/>
                          <a:ea typeface="Arial" pitchFamily="34" charset="-122"/>
                          <a:cs typeface="Arial" pitchFamily="34" charset="-120"/>
                        </a:rPr>
                        <a:t>CoT</a:t>
                      </a:r>
                      <a:endParaRPr lang="en-US" sz="1200" dirty="0">
                        <a:latin typeface="Arial" charset="0"/>
                        <a:ea typeface="Arial" charset="0"/>
                        <a:cs typeface="Arial" charset="0"/>
                      </a:endParaRPr>
                    </a:p>
                  </a:txBody>
                  <a:tcPr marL="76200" marR="76200" marT="50800" marB="50800" anchor="t">
                    <a:lnL w="12700" cap="flat" cmpd="sng" algn="ctr">
                      <a:solidFill>
                        <a:srgbClr val="B5B5B1"/>
                      </a:solidFill>
                      <a:prstDash val="solid"/>
                      <a:round/>
                      <a:headEnd type="none" w="med" len="med"/>
                      <a:tailEnd type="none" w="med" len="med"/>
                    </a:lnL>
                    <a:lnR w="12700" cap="flat" cmpd="sng" algn="ctr">
                      <a:solidFill>
                        <a:srgbClr val="B5B5B1"/>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B5B5B1"/>
                      </a:solidFill>
                      <a:prstDash val="solid"/>
                      <a:round/>
                      <a:headEnd type="none" w="med" len="med"/>
                      <a:tailEnd type="none" w="med" len="med"/>
                    </a:lnB>
                    <a:solidFill>
                      <a:srgbClr val="E3E2DE"/>
                    </a:solidFill>
                  </a:tcPr>
                </a:tc>
              </a:tr>
              <a:tr h="327620">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Accuracy</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31%</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30%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24%</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B5B5B1"/>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09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Invented code</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49%</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43%</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60%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r h="540941">
                <a:tc>
                  <a:txBody>
                    <a:bodyPr/>
                    <a:lstStyle/>
                    <a:p>
                      <a:pPr indent="0" marL="0">
                        <a:lnSpc>
                          <a:spcPts val="1680"/>
                        </a:lnSpc>
                        <a:buNone/>
                      </a:pPr>
                      <a:r>
                        <a:rPr lang="en-US" sz="1200" dirty="0">
                          <a:solidFill>
                            <a:srgbClr val="17212B"/>
                          </a:solidFill>
                          <a:latin typeface="Arial" pitchFamily="34" charset="0"/>
                          <a:ea typeface="Arial" pitchFamily="34" charset="-122"/>
                          <a:cs typeface="Arial" pitchFamily="34" charset="-120"/>
                        </a:rPr>
                        <a:t>Parse failed</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0%</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c>
                  <a:txBody>
                    <a:bodyPr/>
                    <a:lstStyle/>
                    <a:p>
                      <a:pPr algn="r" indent="0" marL="0">
                        <a:lnSpc>
                          <a:spcPts val="1680"/>
                        </a:lnSpc>
                        <a:buNone/>
                      </a:pPr>
                      <a:r>
                        <a:rPr lang="en-US" sz="1200" dirty="0">
                          <a:solidFill>
                            <a:srgbClr val="17212B"/>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76200" marR="76200" marT="50800" marB="50800" anchor="t">
                    <a:lnL w="12700" cap="flat" cmpd="sng" algn="ctr">
                      <a:solidFill>
                        <a:srgbClr val="C4C3BF"/>
                      </a:solidFill>
                      <a:prstDash val="solid"/>
                      <a:round/>
                      <a:headEnd type="none" w="med" len="med"/>
                      <a:tailEnd type="none" w="med" len="med"/>
                    </a:lnL>
                    <a:lnR w="12700" cap="flat" cmpd="sng" algn="ctr">
                      <a:solidFill>
                        <a:srgbClr val="C4C3BF"/>
                      </a:solidFill>
                      <a:prstDash val="solid"/>
                      <a:round/>
                      <a:headEnd type="none" w="med" len="med"/>
                      <a:tailEnd type="none" w="med" len="med"/>
                    </a:lnR>
                    <a:lnT w="12700" cap="flat" cmpd="sng" algn="ctr">
                      <a:solidFill>
                        <a:srgbClr val="C4C3BF"/>
                      </a:solidFill>
                      <a:prstDash val="solid"/>
                      <a:round/>
                      <a:headEnd type="none" w="med" len="med"/>
                      <a:tailEnd type="none" w="med" len="med"/>
                    </a:lnT>
                    <a:lnB w="12700" cap="flat" cmpd="sng" algn="ctr">
                      <a:solidFill>
                        <a:srgbClr val="C4C3BF"/>
                      </a:solidFill>
                      <a:prstDash val="solid"/>
                      <a:round/>
                      <a:headEnd type="none" w="med" len="med"/>
                      <a:tailEnd type="none" w="med" len="med"/>
                    </a:lnB>
                  </a:tcPr>
                </a:tc>
              </a:tr>
            </a:tbl>
          </a:graphicData>
        </a:graphic>
      </p:graphicFrame>
      <p:sp>
        <p:nvSpPr>
          <p:cNvPr id="11" name="Text 6"/>
          <p:cNvSpPr/>
          <p:nvPr/>
        </p:nvSpPr>
        <p:spPr>
          <a:xfrm>
            <a:off x="7670800" y="4524970"/>
            <a:ext cx="381965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212B"/>
                </a:solidFill>
                <a:latin typeface="Arial" pitchFamily="34" charset="0"/>
                <a:ea typeface="Arial" pitchFamily="34" charset="-122"/>
                <a:cs typeface="Arial" pitchFamily="34" charset="-120"/>
              </a:rPr>
              <a:t>Few-shot invented slightly fewer codes, which hints that the examples teach the code format more than the diagnosis.</a:t>
            </a:r>
            <a:endParaRPr lang="en-US" sz="1200" dirty="0"/>
          </a:p>
        </p:txBody>
      </p:sp>
      <p:sp>
        <p:nvSpPr>
          <p:cNvPr id="12" name="Text 7"/>
          <p:cNvSpPr/>
          <p:nvPr/>
        </p:nvSpPr>
        <p:spPr>
          <a:xfrm>
            <a:off x="7670800" y="5266531"/>
            <a:ext cx="3819652" cy="66536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7212B"/>
                </a:solidFill>
                <a:latin typeface="Arial" pitchFamily="34" charset="0"/>
                <a:ea typeface="Arial" pitchFamily="34" charset="-122"/>
                <a:cs typeface="Arial" pitchFamily="34" charset="-120"/>
              </a:rPr>
              <a:t>The most common error is 7 "Symptoms" stays that the model labeled "Circulatory" because the ED coded only the symptom.</a:t>
            </a:r>
            <a:endParaRPr lang="en-US" sz="1200" dirty="0"/>
          </a:p>
        </p:txBody>
      </p:sp>
      <p:sp>
        <p:nvSpPr>
          <p:cNvPr id="13" name="Text 8"/>
          <p:cNvSpPr/>
          <p:nvPr/>
        </p:nvSpPr>
        <p:spPr>
          <a:xfrm>
            <a:off x="812800" y="6238280"/>
            <a:ext cx="102031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5C6772"/>
                </a:solidFill>
                <a:latin typeface="Arial" pitchFamily="34" charset="0"/>
                <a:ea typeface="Arial" pitchFamily="34" charset="-122"/>
                <a:cs typeface="Arial" pitchFamily="34" charset="-120"/>
              </a:rPr>
              <a:t>Notebook cells [16]–[18]</a:t>
            </a:r>
            <a:endParaRPr lang="en-US" sz="1200" dirty="0"/>
          </a:p>
        </p:txBody>
      </p:sp>
      <p:sp>
        <p:nvSpPr>
          <p:cNvPr id="14" name="Text 9"/>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18</a:t>
            </a:r>
            <a:endParaRPr lang="en-US" sz="1200" dirty="0"/>
          </a:p>
        </p:txBody>
      </p:sp>
      <p:sp>
        <p:nvSpPr>
          <p:cNvPr id="3" name="Text 1"/>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LIMITATIONS AND RESPONSIBLE USE (STEP 7 OF 7)</a:t>
            </a:r>
            <a:endParaRPr lang="en-US" sz="1200" dirty="0"/>
          </a:p>
        </p:txBody>
      </p:sp>
      <p:sp>
        <p:nvSpPr>
          <p:cNvPr id="4" name="Text 2"/>
          <p:cNvSpPr/>
          <p:nvPr>
            <p:ph type="title"/>
          </p:nvPr>
        </p:nvSpPr>
        <p:spPr>
          <a:xfrm>
            <a:off x="812800" y="1102320"/>
            <a:ext cx="10464800" cy="78482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These results are only a first look because the labels are imperfect and both the sample and the model are small</a:t>
            </a:r>
            <a:endParaRPr lang="en-US" sz="2600" dirty="0"/>
          </a:p>
        </p:txBody>
      </p:sp>
      <p:sp>
        <p:nvSpPr>
          <p:cNvPr id="5" name="Shape 3"/>
          <p:cNvSpPr/>
          <p:nvPr/>
        </p:nvSpPr>
        <p:spPr>
          <a:xfrm>
            <a:off x="825500" y="1937941"/>
            <a:ext cx="0" cy="514350"/>
          </a:xfrm>
          <a:prstGeom prst="line">
            <a:avLst/>
          </a:prstGeom>
          <a:noFill/>
          <a:ln w="25400">
            <a:solidFill>
              <a:srgbClr val="0E6E6C"/>
            </a:solidFill>
            <a:prstDash val="solid"/>
          </a:ln>
        </p:spPr>
      </p:sp>
      <p:sp>
        <p:nvSpPr>
          <p:cNvPr id="6" name="Text 4"/>
          <p:cNvSpPr/>
          <p:nvPr/>
        </p:nvSpPr>
        <p:spPr>
          <a:xfrm>
            <a:off x="965200" y="1937941"/>
            <a:ext cx="10307828" cy="539750"/>
          </a:xfrm>
          <a:prstGeom prst="rect">
            <a:avLst/>
          </a:prstGeom>
          <a:noFill/>
          <a:ln/>
        </p:spPr>
        <p:txBody>
          <a:bodyPr wrap="square" lIns="0" tIns="0" rIns="0" bIns="0" rtlCol="0" anchor="t">
            <a:normAutofit/>
          </a:bodyPr>
          <a:lstStyle/>
          <a:p>
            <a:pPr algn="l" indent="0" marL="0">
              <a:lnSpc>
                <a:spcPts val="2025"/>
              </a:lnSpc>
              <a:buNone/>
            </a:pPr>
            <a:r>
              <a:rPr lang="en-US" sz="1500" dirty="0">
                <a:solidFill>
                  <a:srgbClr val="3A4651"/>
                </a:solidFill>
                <a:latin typeface="Arial" pitchFamily="34" charset="0"/>
                <a:ea typeface="Arial" pitchFamily="34" charset="-122"/>
                <a:cs typeface="Arial" pitchFamily="34" charset="-120"/>
              </a:rPr>
              <a:t>This should only be used as decision support, where a clinician reviews the draft so that automation bias doesn't creep in</a:t>
            </a:r>
            <a:endParaRPr lang="en-US" sz="1500" dirty="0"/>
          </a:p>
        </p:txBody>
      </p:sp>
      <p:sp>
        <p:nvSpPr>
          <p:cNvPr id="7" name="Shape 5"/>
          <p:cNvSpPr/>
          <p:nvPr/>
        </p:nvSpPr>
        <p:spPr>
          <a:xfrm>
            <a:off x="812800" y="2765425"/>
            <a:ext cx="3318917" cy="0"/>
          </a:xfrm>
          <a:prstGeom prst="line">
            <a:avLst/>
          </a:prstGeom>
          <a:noFill/>
          <a:ln w="19050">
            <a:solidFill>
              <a:srgbClr val="17212B"/>
            </a:solidFill>
            <a:prstDash val="solid"/>
          </a:ln>
        </p:spPr>
      </p:sp>
      <p:sp>
        <p:nvSpPr>
          <p:cNvPr id="8" name="Text 6"/>
          <p:cNvSpPr/>
          <p:nvPr/>
        </p:nvSpPr>
        <p:spPr>
          <a:xfrm>
            <a:off x="812800" y="287655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Billing labels</a:t>
            </a:r>
            <a:endParaRPr lang="en-US" sz="1600" dirty="0"/>
          </a:p>
        </p:txBody>
      </p:sp>
      <p:sp>
        <p:nvSpPr>
          <p:cNvPr id="9" name="Text 7"/>
          <p:cNvSpPr/>
          <p:nvPr/>
        </p:nvSpPr>
        <p:spPr>
          <a:xfrm>
            <a:off x="812800" y="317118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codes are assigned after the workup and are not a gold standard, and they often record only the symptom.</a:t>
            </a:r>
            <a:endParaRPr lang="en-US" sz="1300" dirty="0"/>
          </a:p>
        </p:txBody>
      </p:sp>
      <p:sp>
        <p:nvSpPr>
          <p:cNvPr id="10" name="Shape 8"/>
          <p:cNvSpPr/>
          <p:nvPr/>
        </p:nvSpPr>
        <p:spPr>
          <a:xfrm>
            <a:off x="4436517" y="2765425"/>
            <a:ext cx="3318966" cy="0"/>
          </a:xfrm>
          <a:prstGeom prst="line">
            <a:avLst/>
          </a:prstGeom>
          <a:noFill/>
          <a:ln w="19050">
            <a:solidFill>
              <a:srgbClr val="17212B"/>
            </a:solidFill>
            <a:prstDash val="solid"/>
          </a:ln>
        </p:spPr>
      </p:sp>
      <p:sp>
        <p:nvSpPr>
          <p:cNvPr id="11" name="Text 9"/>
          <p:cNvSpPr/>
          <p:nvPr/>
        </p:nvSpPr>
        <p:spPr>
          <a:xfrm>
            <a:off x="4436517" y="2876550"/>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Small sample</a:t>
            </a:r>
            <a:endParaRPr lang="en-US" sz="1600" dirty="0"/>
          </a:p>
        </p:txBody>
      </p:sp>
      <p:sp>
        <p:nvSpPr>
          <p:cNvPr id="12" name="Text 10"/>
          <p:cNvSpPr/>
          <p:nvPr/>
        </p:nvSpPr>
        <p:spPr>
          <a:xfrm>
            <a:off x="4436517" y="3171180"/>
            <a:ext cx="3418535"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scored only 94 stays from 29 patients, so the estimates are noisy.</a:t>
            </a:r>
            <a:endParaRPr lang="en-US" sz="1300" dirty="0"/>
          </a:p>
        </p:txBody>
      </p:sp>
      <p:sp>
        <p:nvSpPr>
          <p:cNvPr id="13" name="Shape 11"/>
          <p:cNvSpPr/>
          <p:nvPr/>
        </p:nvSpPr>
        <p:spPr>
          <a:xfrm>
            <a:off x="8060283" y="2765425"/>
            <a:ext cx="3318917" cy="0"/>
          </a:xfrm>
          <a:prstGeom prst="line">
            <a:avLst/>
          </a:prstGeom>
          <a:noFill/>
          <a:ln w="19050">
            <a:solidFill>
              <a:srgbClr val="17212B"/>
            </a:solidFill>
            <a:prstDash val="solid"/>
          </a:ln>
        </p:spPr>
      </p:sp>
      <p:sp>
        <p:nvSpPr>
          <p:cNvPr id="14" name="Text 12"/>
          <p:cNvSpPr/>
          <p:nvPr/>
        </p:nvSpPr>
        <p:spPr>
          <a:xfrm>
            <a:off x="8060283" y="287655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hospital</a:t>
            </a:r>
            <a:endParaRPr lang="en-US" sz="1600" dirty="0"/>
          </a:p>
        </p:txBody>
      </p:sp>
      <p:sp>
        <p:nvSpPr>
          <p:cNvPr id="15" name="Text 13"/>
          <p:cNvSpPr/>
          <p:nvPr/>
        </p:nvSpPr>
        <p:spPr>
          <a:xfrm>
            <a:off x="8060283" y="317118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All of the data comes from Beth Israel Deaconess, and its coding habits may not carry over to other hospitals.</a:t>
            </a:r>
            <a:endParaRPr lang="en-US" sz="1300" dirty="0"/>
          </a:p>
        </p:txBody>
      </p:sp>
      <p:sp>
        <p:nvSpPr>
          <p:cNvPr id="16" name="Shape 14"/>
          <p:cNvSpPr/>
          <p:nvPr/>
        </p:nvSpPr>
        <p:spPr>
          <a:xfrm>
            <a:off x="812800" y="4026495"/>
            <a:ext cx="3318917" cy="0"/>
          </a:xfrm>
          <a:prstGeom prst="line">
            <a:avLst/>
          </a:prstGeom>
          <a:noFill/>
          <a:ln w="19050">
            <a:solidFill>
              <a:srgbClr val="17212B"/>
            </a:solidFill>
            <a:prstDash val="solid"/>
          </a:ln>
        </p:spPr>
      </p:sp>
      <p:sp>
        <p:nvSpPr>
          <p:cNvPr id="17" name="Text 15"/>
          <p:cNvSpPr/>
          <p:nvPr/>
        </p:nvSpPr>
        <p:spPr>
          <a:xfrm>
            <a:off x="812800" y="413762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One small model</a:t>
            </a:r>
            <a:endParaRPr lang="en-US" sz="1600" dirty="0"/>
          </a:p>
        </p:txBody>
      </p:sp>
      <p:sp>
        <p:nvSpPr>
          <p:cNvPr id="18" name="Text 16"/>
          <p:cNvSpPr/>
          <p:nvPr/>
        </p:nvSpPr>
        <p:spPr>
          <a:xfrm>
            <a:off x="812800" y="4432250"/>
            <a:ext cx="3418484" cy="71879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We used a single 3B, 4-bit model with one seed, and a larger model may behave differently.</a:t>
            </a:r>
            <a:endParaRPr lang="en-US" sz="1300" dirty="0"/>
          </a:p>
        </p:txBody>
      </p:sp>
      <p:sp>
        <p:nvSpPr>
          <p:cNvPr id="19" name="Shape 17"/>
          <p:cNvSpPr/>
          <p:nvPr/>
        </p:nvSpPr>
        <p:spPr>
          <a:xfrm>
            <a:off x="4436517" y="4026495"/>
            <a:ext cx="3318966" cy="0"/>
          </a:xfrm>
          <a:prstGeom prst="line">
            <a:avLst/>
          </a:prstGeom>
          <a:noFill/>
          <a:ln w="19050">
            <a:solidFill>
              <a:srgbClr val="17212B"/>
            </a:solidFill>
            <a:prstDash val="solid"/>
          </a:ln>
        </p:spPr>
      </p:sp>
      <p:sp>
        <p:nvSpPr>
          <p:cNvPr id="20" name="Text 18"/>
          <p:cNvSpPr/>
          <p:nvPr/>
        </p:nvSpPr>
        <p:spPr>
          <a:xfrm>
            <a:off x="4436517" y="4137620"/>
            <a:ext cx="3418535"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Unfaithful reasoning</a:t>
            </a:r>
            <a:endParaRPr lang="en-US" sz="1600" dirty="0"/>
          </a:p>
        </p:txBody>
      </p:sp>
      <p:sp>
        <p:nvSpPr>
          <p:cNvPr id="21" name="Text 19"/>
          <p:cNvSpPr/>
          <p:nvPr/>
        </p:nvSpPr>
        <p:spPr>
          <a:xfrm>
            <a:off x="4436517" y="4432250"/>
            <a:ext cx="3418535"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The CoT reasoning sounds plausible, but it can invent findings or answer in ICD-9.</a:t>
            </a:r>
            <a:endParaRPr lang="en-US" sz="1300" dirty="0"/>
          </a:p>
        </p:txBody>
      </p:sp>
      <p:sp>
        <p:nvSpPr>
          <p:cNvPr id="22" name="Shape 20"/>
          <p:cNvSpPr/>
          <p:nvPr/>
        </p:nvSpPr>
        <p:spPr>
          <a:xfrm>
            <a:off x="8060283" y="4026495"/>
            <a:ext cx="3318917" cy="0"/>
          </a:xfrm>
          <a:prstGeom prst="line">
            <a:avLst/>
          </a:prstGeom>
          <a:noFill/>
          <a:ln w="19050">
            <a:solidFill>
              <a:srgbClr val="0E6E6C"/>
            </a:solidFill>
            <a:prstDash val="solid"/>
          </a:ln>
        </p:spPr>
      </p:sp>
      <p:sp>
        <p:nvSpPr>
          <p:cNvPr id="23" name="Text 21"/>
          <p:cNvSpPr/>
          <p:nvPr/>
        </p:nvSpPr>
        <p:spPr>
          <a:xfrm>
            <a:off x="8060283" y="4137620"/>
            <a:ext cx="3418484"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0E6E6C"/>
                </a:solidFill>
                <a:latin typeface="Arial" pitchFamily="34" charset="0"/>
                <a:ea typeface="Arial" pitchFamily="34" charset="-122"/>
                <a:cs typeface="Arial" pitchFamily="34" charset="-120"/>
              </a:rPr>
              <a:t>Decision support only</a:t>
            </a:r>
            <a:endParaRPr lang="en-US" sz="1600" dirty="0"/>
          </a:p>
        </p:txBody>
      </p:sp>
      <p:sp>
        <p:nvSpPr>
          <p:cNvPr id="24" name="Text 22"/>
          <p:cNvSpPr/>
          <p:nvPr/>
        </p:nvSpPr>
        <p:spPr>
          <a:xfrm>
            <a:off x="8060283" y="4432250"/>
            <a:ext cx="3418484" cy="4876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7212B"/>
                </a:solidFill>
                <a:latin typeface="Arial" pitchFamily="34" charset="0"/>
                <a:ea typeface="Arial" pitchFamily="34" charset="-122"/>
                <a:cs typeface="Arial" pitchFamily="34" charset="-120"/>
              </a:rPr>
              <a:t>A tool like this should never replace triage judgment.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4F0"/>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spc="100" kern="0" dirty="0">
                <a:solidFill>
                  <a:srgbClr val="0E6E6C"/>
                </a:solidFill>
                <a:latin typeface="Arial" pitchFamily="34" charset="0"/>
                <a:ea typeface="Arial" pitchFamily="34" charset="-122"/>
                <a:cs typeface="Arial" pitchFamily="34" charset="-120"/>
              </a:rPr>
              <a:t>REFERENCES</a:t>
            </a:r>
            <a:endParaRPr lang="en-US" sz="1200" dirty="0"/>
          </a:p>
        </p:txBody>
      </p:sp>
      <p:sp>
        <p:nvSpPr>
          <p:cNvPr id="3" name="Text 1"/>
          <p:cNvSpPr/>
          <p:nvPr>
            <p:ph type="title"/>
          </p:nvPr>
        </p:nvSpPr>
        <p:spPr>
          <a:xfrm>
            <a:off x="812800" y="1102320"/>
            <a:ext cx="10464800" cy="405110"/>
          </a:xfrm>
          <a:prstGeom prst="rect">
            <a:avLst/>
          </a:prstGeom>
          <a:noFill/>
          <a:ln/>
        </p:spPr>
        <p:txBody>
          <a:bodyPr wrap="square" lIns="0" tIns="0" rIns="0" bIns="0" rtlCol="0" anchor="t">
            <a:normAutofit/>
          </a:bodyPr>
          <a:lstStyle/>
          <a:p>
            <a:pPr algn="l" indent="0" marL="0">
              <a:lnSpc>
                <a:spcPts val="2990"/>
              </a:lnSpc>
              <a:buNone/>
            </a:pPr>
            <a:r>
              <a:rPr lang="en-US" sz="2600" b="1" i="0" dirty="0">
                <a:solidFill>
                  <a:srgbClr val="17212B"/>
                </a:solidFill>
                <a:latin typeface="Arial" pitchFamily="34" charset="0"/>
                <a:ea typeface="Arial" pitchFamily="34" charset="-122"/>
                <a:cs typeface="Arial" pitchFamily="34" charset="-120"/>
              </a:rPr>
              <a:t>Data, tools and papers used in this tutorial</a:t>
            </a:r>
            <a:endParaRPr lang="en-US" sz="2600" dirty="0"/>
          </a:p>
        </p:txBody>
      </p:sp>
      <p:sp>
        <p:nvSpPr>
          <p:cNvPr id="4" name="Shape 2"/>
          <p:cNvSpPr/>
          <p:nvPr/>
        </p:nvSpPr>
        <p:spPr>
          <a:xfrm>
            <a:off x="812800" y="1796355"/>
            <a:ext cx="4978400" cy="0"/>
          </a:xfrm>
          <a:prstGeom prst="line">
            <a:avLst/>
          </a:prstGeom>
          <a:noFill/>
          <a:ln w="19050">
            <a:solidFill>
              <a:srgbClr val="17212B"/>
            </a:solidFill>
            <a:prstDash val="solid"/>
          </a:ln>
        </p:spPr>
      </p:sp>
      <p:sp>
        <p:nvSpPr>
          <p:cNvPr id="5" name="Text 3"/>
          <p:cNvSpPr/>
          <p:nvPr/>
        </p:nvSpPr>
        <p:spPr>
          <a:xfrm>
            <a:off x="812800" y="1907480"/>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Data</a:t>
            </a:r>
            <a:endParaRPr lang="en-US" sz="1600" dirty="0"/>
          </a:p>
        </p:txBody>
      </p:sp>
      <p:sp>
        <p:nvSpPr>
          <p:cNvPr id="6" name="Text 4"/>
          <p:cNvSpPr/>
          <p:nvPr/>
        </p:nvSpPr>
        <p:spPr>
          <a:xfrm>
            <a:off x="812800" y="2278311"/>
            <a:ext cx="512775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Johnson, A., Bulgarelli, L., Pollard, T., Celi, L. A., Horng, S., &amp; Mark, R. (2023). MIMIC-IV-ED Demo (version 2.2). PhysioNet. https://doi.org/10.13026/jzz5-vs76</a:t>
            </a:r>
            <a:endParaRPr lang="en-US" sz="1200" dirty="0"/>
          </a:p>
        </p:txBody>
      </p:sp>
      <p:sp>
        <p:nvSpPr>
          <p:cNvPr id="7" name="Text 5"/>
          <p:cNvSpPr/>
          <p:nvPr/>
        </p:nvSpPr>
        <p:spPr>
          <a:xfrm>
            <a:off x="812800" y="3068191"/>
            <a:ext cx="512775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Johnson, A., Bulgarelli, L., Pollard, T., Horng, S., Celi, L. A., &amp; Mark, R. (2022). MIMIC-IV Clinical Database Demo. PhysioNet. https://doi.org/10.13026/ng9m-3n32</a:t>
            </a:r>
            <a:endParaRPr lang="en-US" sz="1200" dirty="0"/>
          </a:p>
        </p:txBody>
      </p:sp>
      <p:sp>
        <p:nvSpPr>
          <p:cNvPr id="8" name="Text 6"/>
          <p:cNvSpPr/>
          <p:nvPr/>
        </p:nvSpPr>
        <p:spPr>
          <a:xfrm>
            <a:off x="812800" y="3858071"/>
            <a:ext cx="5127752"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Pollard, T., Moody, B. E., Lehman, L., Gow, B., Fernandes, C., Xie, C., Johnson, A., Mark, R. G., &amp; Heldt, T. (2026). PhysioNet as a global platform for biomedical research. Nature Health. https://doi.org/10.1038/s44360-026-00096-z</a:t>
            </a:r>
            <a:endParaRPr lang="en-US" sz="1200" dirty="0"/>
          </a:p>
        </p:txBody>
      </p:sp>
      <p:sp>
        <p:nvSpPr>
          <p:cNvPr id="9" name="Shape 7"/>
          <p:cNvSpPr/>
          <p:nvPr/>
        </p:nvSpPr>
        <p:spPr>
          <a:xfrm>
            <a:off x="6400800" y="1796355"/>
            <a:ext cx="4978400" cy="0"/>
          </a:xfrm>
          <a:prstGeom prst="line">
            <a:avLst/>
          </a:prstGeom>
          <a:noFill/>
          <a:ln w="19050">
            <a:solidFill>
              <a:srgbClr val="17212B"/>
            </a:solidFill>
            <a:prstDash val="solid"/>
          </a:ln>
        </p:spPr>
      </p:sp>
      <p:sp>
        <p:nvSpPr>
          <p:cNvPr id="10" name="Text 8"/>
          <p:cNvSpPr/>
          <p:nvPr/>
        </p:nvSpPr>
        <p:spPr>
          <a:xfrm>
            <a:off x="6400800" y="1907480"/>
            <a:ext cx="5127752" cy="26923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7212B"/>
                </a:solidFill>
                <a:latin typeface="Arial" pitchFamily="34" charset="0"/>
                <a:ea typeface="Arial" pitchFamily="34" charset="-122"/>
                <a:cs typeface="Arial" pitchFamily="34" charset="-120"/>
              </a:rPr>
              <a:t>Models, tools and papers</a:t>
            </a:r>
            <a:endParaRPr lang="en-US" sz="1600" dirty="0"/>
          </a:p>
        </p:txBody>
      </p:sp>
      <p:sp>
        <p:nvSpPr>
          <p:cNvPr id="11" name="Text 9"/>
          <p:cNvSpPr/>
          <p:nvPr/>
        </p:nvSpPr>
        <p:spPr>
          <a:xfrm>
            <a:off x="6400800" y="2278311"/>
            <a:ext cx="5127752"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Qwen Team. Qwen2.5 Technical Report. arXiv 2412.15115, 2024.</a:t>
            </a:r>
            <a:endParaRPr lang="en-US" sz="1200" dirty="0"/>
          </a:p>
        </p:txBody>
      </p:sp>
      <p:sp>
        <p:nvSpPr>
          <p:cNvPr id="12" name="Text 10"/>
          <p:cNvSpPr/>
          <p:nvPr/>
        </p:nvSpPr>
        <p:spPr>
          <a:xfrm>
            <a:off x="6400800" y="262627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Ollama, ollama.com, for running the model locally, and Pydantic, docs.pydantic.dev, for validating the JSON answers.</a:t>
            </a:r>
            <a:endParaRPr lang="en-US" sz="1200" dirty="0"/>
          </a:p>
        </p:txBody>
      </p:sp>
      <p:sp>
        <p:nvSpPr>
          <p:cNvPr id="13" name="Text 11"/>
          <p:cNvSpPr/>
          <p:nvPr/>
        </p:nvSpPr>
        <p:spPr>
          <a:xfrm>
            <a:off x="6400800" y="319519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Li T, et al. CancerGPT for few shot drug pair synergy prediction using large pretrained language models. npj Digital Medicine, 2024.</a:t>
            </a:r>
            <a:endParaRPr lang="en-US" sz="1200" dirty="0"/>
          </a:p>
        </p:txBody>
      </p:sp>
      <p:sp>
        <p:nvSpPr>
          <p:cNvPr id="14" name="Text 12"/>
          <p:cNvSpPr/>
          <p:nvPr/>
        </p:nvSpPr>
        <p:spPr>
          <a:xfrm>
            <a:off x="6400800" y="3764111"/>
            <a:ext cx="512775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17212B"/>
                </a:solidFill>
                <a:latin typeface="Arial" pitchFamily="34" charset="0"/>
                <a:ea typeface="Arial" pitchFamily="34" charset="-122"/>
                <a:cs typeface="Arial" pitchFamily="34" charset="-120"/>
              </a:rPr>
              <a:t>Course Module 13 (prompting) and Practices 1–3, lectures 2.2, 4.1, 8.2 and 10.2, and Series 9 and 11.</a:t>
            </a:r>
            <a:endParaRPr lang="en-US" sz="1200" dirty="0"/>
          </a:p>
        </p:txBody>
      </p:sp>
      <p:sp>
        <p:nvSpPr>
          <p:cNvPr id="15" name="Text 13"/>
          <p:cNvSpPr/>
          <p:nvPr/>
        </p:nvSpPr>
        <p:spPr>
          <a:xfrm>
            <a:off x="10820400" y="6238280"/>
            <a:ext cx="558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5C6772"/>
                </a:solidFill>
                <a:latin typeface="Arial" pitchFamily="34" charset="0"/>
                <a:ea typeface="Arial" pitchFamily="34" charset="-122"/>
                <a:cs typeface="Arial" pitchFamily="34" charset="-120"/>
              </a:rPr>
              <a:t>19</a:t>
            </a:r>
            <a:endParaRPr lang="en-US" sz="1200" dirty="0"/>
          </a:p>
        </p:txBody>
      </p:sp>
    </p:spTree>
  </p:cSld>
  <p:clrMapOvr>
    <a:masterClrMapping/>
  </p:clrMapOvr>
</p:sld>
</file>

<file path=ppt/theme/theme1.xml><?xml version="1.0" encoding="utf-8"?>
<a:theme xmlns:a="http://schemas.openxmlformats.org/drawingml/2006/main" name="Classifying ED Visits with an LLM">
  <a:themeElements>
    <a:clrScheme name="Classifying ED Visits with an LLM">
      <a:dk1>
        <a:srgbClr val="17212B"/>
      </a:dk1>
      <a:lt1>
        <a:srgbClr val="F5F4F0"/>
      </a:lt1>
      <a:dk2>
        <a:srgbClr val="4F565C"/>
      </a:dk2>
      <a:lt2>
        <a:srgbClr val="DFDFDC"/>
      </a:lt2>
      <a:accent1>
        <a:srgbClr val="0E6E6C"/>
      </a:accent1>
      <a:accent2>
        <a:srgbClr val="6ECFC5"/>
      </a:accent2>
      <a:accent3>
        <a:srgbClr val="5C6772"/>
      </a:accent3>
      <a:accent4>
        <a:srgbClr val="3A4651"/>
      </a:accent4>
      <a:accent5>
        <a:srgbClr val="C8CED3"/>
      </a:accent5>
      <a:accent6>
        <a:srgbClr val="8F9AA4"/>
      </a:accent6>
      <a:hlink>
        <a:srgbClr val="0563C1"/>
      </a:hlink>
      <a:folHlink>
        <a:srgbClr val="954F72"/>
      </a:folHlink>
    </a:clrScheme>
    <a:fontScheme name="Classifying ED Visits with an LL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Classifying ED Visits with an LLM</dc:title>
  <dc:subject/>
  <dc:creator/>
  <cp:lastModifiedBy/>
  <cp:revision>1</cp:revision>
  <dcterms:created xsi:type="dcterms:W3CDTF">2026-10-15T15:36:49Z</dcterms:created>
  <dcterms:modified xsi:type="dcterms:W3CDTF">2026-10-15T15:36:49Z</dcterms:modified>
</cp:coreProperties>
</file>
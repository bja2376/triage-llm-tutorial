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data are at https://github.com/bja2376/triage-llm-tutorial This tutorial shows how to run a small language model on your own laptop and use it to guess the diagnosis category for an emergency department visit from the triage record alone. We compare three prompting techniques on the same visits and score each one against the diagnosis the ED actually recorded. Everything uses the open MIMIC-IV-ED demo, so you can rebuild it end to end without a PhysioNet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question the tutorial tries to answer. A triage record is the first structured note in an ED visit, and it holds the chief complaint, vitals, pain score, arrival mode and ESI acuity, where 1 is the most urgent and 5 the least. The diagnosis on the right is only recorded hours later, after labs, imaging and an exam. A draft category at triage could help a clinician think ahead or route the case, but it is a suggestion to check and never a replacement for clinical judgment. The record shown is one real stay from the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for the rest of the tutorial. Each of the seven steps matches a numbered section of the notebook, so you can follow along cell by cell. Steps 1 through 4 set up the model and prepare the data. Step 5 is where the LLM work happens, so it gets four slides. Steps 6 and 7 score the answers and read the results. The aim is to leave with a workflow you can reuse on other MIMIC tables, not just a single accuracy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tutorial extends the course rather than repeating it. From the course - Zero-shot, few-shot and chain-of-thought prompting (Module 13, Practices 1–2) - Checking JSON output with Pydantic (Practice 2) New here - The MIMIC-IV-ED triage table, which the course did not use - Measuring whether each technique actually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gets the code and a clean Python environment onto your machine, and the next slide covers Ollama. You need git and Python 3 installed first. The demo CSVs are already committed under data because their open license allows it, so cloning is the only download. Make the virtual environment inside the repo folder so the notebook installs its packages there. If you use uv instead of venv, add --seed, because otherwise the environment has no pip and the install cell fails. In VS Code, open the repo folder and choose the .venv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Ollama is the program that runs the model on your laptop, and the notebook talks to it through the ollama Python package. On macOS and Windows the installer runs Ollama in the background as an app, and on Linux the install script sets it up as a service. Pulling the model ahead of time is optional, but it lets you watch the 2 GB download finish before you start. A full run takes about 10 minutes, mostly for chain-of-thought. If anything hangs, check that the Ollama app is still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run a small open model locally because the MIMIC data use agreement does not allow sending records to an outside API like ChatGPT. Because of that, the same code would also work on the full credentialed data. The config cell is the one place to change settings. MODEL picks the model, N_CASES caps how many stays are scored and SEED keeps runs repeatable. The printed details and digest let a peer confirm they pulled the same weights. If the pull hangs, check that the Ollama app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builds one row per ED stay from five demo tables. Fields known at triage go beyond the triage table, so sex and arrival transport come from edstays and age comes from patients. The label is the primary diagnosis, which is the one with seq_num 1. We drop disposition, outtime, hadm_id and the other diagnoses, because they are recorded after the diagnosis and would leak the answer. Age is approximate, since anchor_age is the patient's age in their anchor year. The join on the slide leaves out the column lists, which the notebook includes.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score at the ICD-10 chapter level because an exact code is too fine-grained to guess from a triage record. The 22 chapters match the grouping from lecture 4.1 and Series 11. The function takes the first three characters of a code and finds the chapter whose range contains them, and the notebook version also rejects malformed codes. We keep only ICD-10 stays because the model answers in ICD-10. Notice that Symptoms &amp; signs is about a third of the stays, which is the baseline to remember when we read the accuracy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turns each triage row into a few lines of text, which is the table-to-prompt idea from the CancerGPT paper in Module 13. The show helper writes "not recorded" for any missing value, because a raw "nan" means nothing to the model. The test cell after it builds a row with a missing temperature and checks that "nan" never appears. The same function builds every prompt in step 5, so the technique is the only thing that changes. Long lines on the slide are wrapped to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three techniques before we look at the code. All three share one system instruction that asks for the most likely ED diagnosis and its ICD-10 code in JSON. Zero-shot sends only the triage summary. Few-shot adds three solved stays as earlier chat turns. Chain-of-thought asks the model to reason step by step before answering. Each one is compared against zero-shot rather than stacked, so any change in score can be traced to one technique. All three come from Module 13 and Practices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cell picks the three few-shot examples by a fixed rule, taking the first stay from each of the three most common chapters, so anyone who reruns it gets the same examples. It then removes every stay from those three patients, not just the example stays, so the model is never scored on a patient it has already seen. That leaves 94 stays from 29 patients. If your counts differ, check that you did not change N_CASES or SEED. Long lines on the slide are wrapped to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function builds every prompt, which keeps the comparison clean. Every technique starts with the same system message. Few-shot adds each example as a user turn with its triage summary and an assistant turn with the real ED answer in our JSON format. Chain-of-thought adds one sentence asking the model to reason first, and zero-shot adds nothing. The notebook does not print the roles, but you can check them with [m["role"] for m in build_messages(eval_df.iloc[0], "few_shot")]. Long lines on the slide are wrapped to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function sends one prompt to the local model and checks the reply. Passing the Pydantic schema to format= makes Ollama return JSON in that shape, and Pydantic then validates it, as in Practice 2. The chain-of-thought schema puts reasoning first, so the model writes it before committing to an answer. Temperature 0 and a fixed seed keep answers repeatable, and num_predict caps the length because small models can loop in JSON mode. An answer that fails to validate is counted as wrong rather than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runs every technique over the same 94 stays in the same order, which is what makes the accuracies comparable. It stores one row per answer, so the results table ends up with 282 rows. Zero-shot and few-shot take about a minute each, and chain-of-thought takes about seven because it writes a paragraph before every answer. The notebook keeps more columns than the slide shows, including the reasoning, which helps when you want to read individual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cell turns the raw answers into three numbers per technique. Each predicted code is mapped to a chapter with the same function from step 3, and an answer that failed to parse counts as wrong. Each code is also checked against the ICD-10 dictionary, which is the hallucination check from Practices 1 and 3. A model can invent a code like R07.99 that still lands in the right chapter, which is why invented codes are measured separately. The charts on the next slide come from cells 24 and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Zero-shot reached 31% chapter accuracy, few-shot 30% and chain-of-thought 24%. For context, random guessing among 22 chapters scores under 5%, and always guessing Symptoms &amp; signs scores about 26%. So the model learned something from the triage text, but it only edges past the simplest baseline, and with 94 stays the 95% interval is about ±10 points. Few-shot cut invented codes from 49% to 43%, which suggests the examples teach the format more than the diagnosis. My reading is that the triage record itself limits accuracy, which a larger sample could test. The confusion matrix is for zero-shot, and its biggest error is 7 Symptoms stays labeled Circulatory.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accuracy is low, and part of that comes from the labels. The ED records a billing code after the workup, and when it cannot confirm a cause it records only the symptom, so a reasonable answer can still count as wrong. As lectures 10.2 and 8.2 discuss, a tool like this could only draft a chapter for a clinician to check, with human review to guard against automation bias. Natural next steps are more cases from the credentialed data, a larger local model, other MIMIC-IV-ED tables such as medrecon, or giving the model an ICD-10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for the data, the model and the methods. The demo data is openly licensed, which is why it can be committed to the repo. Even with temperature 0 and a fixed seed, LLM output can vary slightly across hardware and Ollama versions, so a peer's numbers may not match these exactly. The overall pattern should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160000" cy="759420"/>
          </a:xfrm>
          <a:prstGeom prst="rect">
            <a:avLst/>
          </a:prstGeom>
          <a:noFill/>
          <a:ln/>
        </p:spPr>
        <p:txBody>
          <a:bodyPr wrap="square" lIns="0" tIns="0" rIns="0" bIns="0" rtlCol="0" anchor="t"/>
          <a:lstStyle>
            <a:lvl1pPr algn="l" indent="0" marL="0">
              <a:lnSpc>
                <a:spcPct val="115000"/>
              </a:lnSpc>
              <a:buNone/>
              <a:defRPr lang="en-US" sz="2600" dirty="0">
                <a:solidFill>
                  <a:srgbClr val="1721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2166541"/>
            <a:ext cx="10566400" cy="3878659"/>
          </a:xfrm>
          <a:prstGeom prst="rect">
            <a:avLst/>
          </a:prstGeom>
          <a:noFill/>
          <a:ln/>
        </p:spPr>
        <p:txBody>
          <a:bodyPr wrap="square" lIns="0" tIns="0" rIns="0" bIns="0" rtlCol="0" anchor="t"/>
          <a:lstStyle>
            <a:lvl1pPr algn="l" indent="0" marL="0">
              <a:lnSpc>
                <a:spcPct val="140000"/>
              </a:lnSpc>
              <a:buNone/>
              <a:defRPr lang="en-US" sz="1600" dirty="0">
                <a:solidFill>
                  <a:srgbClr val="1721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160000" cy="759420"/>
          </a:xfrm>
          <a:prstGeom prst="rect">
            <a:avLst/>
          </a:prstGeom>
          <a:noFill/>
          <a:ln/>
        </p:spPr>
        <p:txBody>
          <a:bodyPr wrap="square" lIns="0" tIns="0" rIns="0" bIns="0" rtlCol="0" anchor="t"/>
          <a:lstStyle>
            <a:lvl1pPr algn="l" indent="0" marL="0">
              <a:lnSpc>
                <a:spcPct val="115000"/>
              </a:lnSpc>
              <a:buNone/>
              <a:defRPr lang="en-US" sz="2600" dirty="0">
                <a:solidFill>
                  <a:srgbClr val="1721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2166541"/>
            <a:ext cx="10566400" cy="3878659"/>
          </a:xfrm>
          <a:prstGeom prst="rect">
            <a:avLst/>
          </a:prstGeom>
          <a:noFill/>
          <a:ln/>
        </p:spPr>
        <p:txBody>
          <a:bodyPr wrap="square" lIns="0" tIns="0" rIns="0" bIns="0" rtlCol="0" anchor="t"/>
          <a:lstStyle>
            <a:lvl1pPr algn="l" indent="0" marL="0">
              <a:lnSpc>
                <a:spcPct val="140000"/>
              </a:lnSpc>
              <a:buNone/>
              <a:defRPr lang="en-US" sz="1600" dirty="0">
                <a:solidFill>
                  <a:srgbClr val="1721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1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6ECFC5"/>
                </a:solidFill>
                <a:latin typeface="IBM Plex Sans" pitchFamily="34" charset="0"/>
                <a:ea typeface="IBM Plex Sans" pitchFamily="34" charset="-122"/>
                <a:cs typeface="IBM Plex Sans" pitchFamily="34" charset="-120"/>
              </a:rPr>
              <a:t>MIMIC-IV-ED DEMO TRIAGE RECORDS</a:t>
            </a:r>
            <a:endParaRPr lang="en-US" sz="1200" dirty="0"/>
          </a:p>
        </p:txBody>
      </p:sp>
      <p:sp>
        <p:nvSpPr>
          <p:cNvPr id="3" name="Text 1"/>
          <p:cNvSpPr/>
          <p:nvPr>
            <p:ph type="title"/>
          </p:nvPr>
        </p:nvSpPr>
        <p:spPr>
          <a:xfrm>
            <a:off x="812800" y="2336850"/>
            <a:ext cx="850265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2F0EA"/>
                </a:solidFill>
                <a:latin typeface="IBM Plex Sans" pitchFamily="34" charset="0"/>
                <a:ea typeface="IBM Plex Sans" pitchFamily="34" charset="-122"/>
                <a:cs typeface="IBM Plex Sans" pitchFamily="34" charset="-120"/>
              </a:rPr>
              <a:t>Classifying ED visits with an LLM</a:t>
            </a:r>
            <a:endParaRPr lang="en-US" sz="4800" dirty="0"/>
          </a:p>
        </p:txBody>
      </p:sp>
      <p:sp>
        <p:nvSpPr>
          <p:cNvPr id="4" name="Text 2"/>
          <p:cNvSpPr/>
          <p:nvPr/>
        </p:nvSpPr>
        <p:spPr>
          <a:xfrm>
            <a:off x="812800" y="3881090"/>
            <a:ext cx="10883392"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8CED3"/>
                </a:solidFill>
                <a:latin typeface="IBM Plex Sans" pitchFamily="34" charset="0"/>
                <a:ea typeface="IBM Plex Sans" pitchFamily="34" charset="-122"/>
                <a:cs typeface="IBM Plex Sans" pitchFamily="34" charset="-120"/>
              </a:rPr>
              <a:t>Self-Learning Tutorial</a:t>
            </a:r>
            <a:endParaRPr lang="en-US" sz="1800" dirty="0"/>
          </a:p>
          <a:p>
            <a:pPr algn="l" indent="0" marL="0">
              <a:lnSpc>
                <a:spcPts val="2520"/>
              </a:lnSpc>
              <a:buNone/>
            </a:pPr>
            <a:r>
              <a:rPr lang="en-US" sz="1800" dirty="0">
                <a:solidFill>
                  <a:srgbClr val="C8CED3"/>
                </a:solidFill>
                <a:latin typeface="IBM Plex Sans" pitchFamily="34" charset="0"/>
                <a:ea typeface="IBM Plex Sans" pitchFamily="34" charset="-122"/>
                <a:cs typeface="IBM Plex Sans" pitchFamily="34" charset="-120"/>
              </a:rPr>
              <a:t>AI in Healthcare</a:t>
            </a:r>
            <a:endParaRPr lang="en-US" sz="18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9AA4"/>
                </a:solidFill>
                <a:latin typeface="IBM Plex Sans" pitchFamily="34" charset="0"/>
                <a:ea typeface="IBM Plex Sans" pitchFamily="34" charset="-122"/>
                <a:cs typeface="IBM Plex Sans" pitchFamily="34" charset="-120"/>
              </a:rPr>
              <a:t>Built with Python, Ollama (qwen2.5:3b) and Pydantic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Clinicians get a triage record in minutes but the diagnosis comes hours later and clinicians must rehash old facts</a:t>
            </a:r>
            <a:endParaRPr lang="en-US" sz="2600" dirty="0"/>
          </a:p>
        </p:txBody>
      </p:sp>
      <p:sp>
        <p:nvSpPr>
          <p:cNvPr id="4" name="Shape 2"/>
          <p:cNvSpPr/>
          <p:nvPr/>
        </p:nvSpPr>
        <p:spPr>
          <a:xfrm>
            <a:off x="825500" y="1937941"/>
            <a:ext cx="0" cy="257175"/>
          </a:xfrm>
          <a:prstGeom prst="line">
            <a:avLst/>
          </a:prstGeom>
          <a:noFill/>
          <a:ln w="25400">
            <a:solidFill>
              <a:srgbClr val="0E6E6C"/>
            </a:solidFill>
            <a:prstDash val="solid"/>
          </a:ln>
        </p:spPr>
      </p:sp>
      <p:sp>
        <p:nvSpPr>
          <p:cNvPr id="5" name="Text 3"/>
          <p:cNvSpPr/>
          <p:nvPr/>
        </p:nvSpPr>
        <p:spPr>
          <a:xfrm>
            <a:off x="965200" y="1937941"/>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An LLM that drafts the diagnosis category at triage could support the clinician rather than replace them</a:t>
            </a:r>
            <a:endParaRPr lang="en-US" sz="1500" dirty="0"/>
          </a:p>
        </p:txBody>
      </p:sp>
      <p:sp>
        <p:nvSpPr>
          <p:cNvPr id="6" name="Text 4"/>
          <p:cNvSpPr/>
          <p:nvPr/>
        </p:nvSpPr>
        <p:spPr>
          <a:xfrm>
            <a:off x="812800" y="2550716"/>
            <a:ext cx="627888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What a triage record looks like</a:t>
            </a:r>
            <a:endParaRPr lang="en-US" sz="1600" dirty="0"/>
          </a:p>
        </p:txBody>
      </p:sp>
      <p:sp>
        <p:nvSpPr>
          <p:cNvPr id="7" name="Text 5"/>
          <p:cNvSpPr/>
          <p:nvPr/>
        </p:nvSpPr>
        <p:spPr>
          <a:xfrm>
            <a:off x="812800" y="2896146"/>
            <a:ext cx="627888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7212B"/>
                </a:solidFill>
                <a:latin typeface="IBM Plex Sans" pitchFamily="34" charset="0"/>
                <a:ea typeface="IBM Plex Sans" pitchFamily="34" charset="-122"/>
                <a:cs typeface="IBM Plex Sans" pitchFamily="34" charset="-120"/>
              </a:rPr>
              <a:t>Age 83, female. Arrived by ambulance.</a:t>
            </a:r>
            <a:endParaRPr lang="en-US" sz="1300" dirty="0"/>
          </a:p>
          <a:p>
            <a:pPr algn="l" indent="0" marL="0">
              <a:lnSpc>
                <a:spcPts val="1950"/>
              </a:lnSpc>
              <a:buNone/>
            </a:pPr>
            <a:r>
              <a:rPr lang="en-US" sz="1300" dirty="0">
                <a:solidFill>
                  <a:srgbClr val="17212B"/>
                </a:solidFill>
                <a:latin typeface="IBM Plex Sans" pitchFamily="34" charset="0"/>
                <a:ea typeface="IBM Plex Sans" pitchFamily="34" charset="-122"/>
                <a:cs typeface="IBM Plex Sans" pitchFamily="34" charset="-120"/>
              </a:rPr>
              <a:t>Chief complaint: "Syncope, Transfer"</a:t>
            </a:r>
            <a:endParaRPr lang="en-US" sz="1300" dirty="0"/>
          </a:p>
          <a:p>
            <a:pPr algn="l" indent="0" marL="0">
              <a:lnSpc>
                <a:spcPts val="1950"/>
              </a:lnSpc>
              <a:buNone/>
            </a:pPr>
            <a:r>
              <a:rPr lang="en-US" sz="1300" dirty="0">
                <a:solidFill>
                  <a:srgbClr val="17212B"/>
                </a:solidFill>
                <a:latin typeface="IBM Plex Sans" pitchFamily="34" charset="0"/>
                <a:ea typeface="IBM Plex Sans" pitchFamily="34" charset="-122"/>
                <a:cs typeface="IBM Plex Sans" pitchFamily="34" charset="-120"/>
              </a:rPr>
              <a:t>T 97.7°F, HR 74, RR 20, SpO2 96%,</a:t>
            </a:r>
            <a:endParaRPr lang="en-US" sz="1300" dirty="0"/>
          </a:p>
          <a:p>
            <a:pPr algn="l" indent="0" marL="0">
              <a:lnSpc>
                <a:spcPts val="1950"/>
              </a:lnSpc>
              <a:buNone/>
            </a:pPr>
            <a:r>
              <a:rPr lang="en-US" sz="1300" dirty="0">
                <a:solidFill>
                  <a:srgbClr val="17212B"/>
                </a:solidFill>
                <a:latin typeface="IBM Plex Sans" pitchFamily="34" charset="0"/>
                <a:ea typeface="IBM Plex Sans" pitchFamily="34" charset="-122"/>
                <a:cs typeface="IBM Plex Sans" pitchFamily="34" charset="-120"/>
              </a:rPr>
              <a:t>BP 133/65. Pain 3/10. ESI acuity 2.</a:t>
            </a:r>
            <a:endParaRPr lang="en-US" sz="1300" dirty="0"/>
          </a:p>
        </p:txBody>
      </p:sp>
      <p:sp>
        <p:nvSpPr>
          <p:cNvPr id="8" name="Text 6"/>
          <p:cNvSpPr/>
          <p:nvPr/>
        </p:nvSpPr>
        <p:spPr>
          <a:xfrm>
            <a:off x="812800" y="3988346"/>
            <a:ext cx="627888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The model sees the complaint, vitals, pain, acuity, arrival, age and sex.</a:t>
            </a:r>
            <a:endParaRPr lang="en-US" sz="1300" dirty="0"/>
          </a:p>
        </p:txBody>
      </p:sp>
      <p:sp>
        <p:nvSpPr>
          <p:cNvPr id="9" name="Text 7"/>
          <p:cNvSpPr/>
          <p:nvPr/>
        </p:nvSpPr>
        <p:spPr>
          <a:xfrm>
            <a:off x="7315200" y="2550716"/>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What the ED recorded later</a:t>
            </a:r>
            <a:endParaRPr lang="en-US" sz="1600" dirty="0"/>
          </a:p>
        </p:txBody>
      </p:sp>
      <p:sp>
        <p:nvSpPr>
          <p:cNvPr id="10" name="Text 8"/>
          <p:cNvSpPr/>
          <p:nvPr/>
        </p:nvSpPr>
        <p:spPr>
          <a:xfrm>
            <a:off x="7315200" y="2896146"/>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IBM Plex Sans" pitchFamily="34" charset="0"/>
                <a:ea typeface="IBM Plex Sans" pitchFamily="34" charset="-122"/>
                <a:cs typeface="IBM Plex Sans" pitchFamily="34" charset="-120"/>
              </a:rPr>
              <a:t>Primary diagnosis (seq_num = 1)</a:t>
            </a:r>
            <a:endParaRPr lang="en-US" sz="1500" dirty="0"/>
          </a:p>
          <a:p>
            <a:pPr algn="l" indent="0" marL="0">
              <a:lnSpc>
                <a:spcPts val="2100"/>
              </a:lnSpc>
              <a:buNone/>
            </a:pPr>
            <a:r>
              <a:rPr lang="en-US" sz="1500" b="1" dirty="0">
                <a:solidFill>
                  <a:srgbClr val="17212B"/>
                </a:solidFill>
                <a:latin typeface="IBM Plex Sans" pitchFamily="34" charset="0"/>
                <a:ea typeface="IBM Plex Sans" pitchFamily="34" charset="-122"/>
                <a:cs typeface="IBM Plex Sans" pitchFamily="34" charset="-120"/>
              </a:rPr>
              <a:t>R55, Syncope and collapse</a:t>
            </a:r>
            <a:endParaRPr lang="en-US" sz="1500" dirty="0"/>
          </a:p>
        </p:txBody>
      </p:sp>
      <p:sp>
        <p:nvSpPr>
          <p:cNvPr id="11" name="Text 9"/>
          <p:cNvSpPr/>
          <p:nvPr/>
        </p:nvSpPr>
        <p:spPr>
          <a:xfrm>
            <a:off x="7315200" y="3531146"/>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We score the model against the ICD-10 chapter of this diagnosis, which here is "Symptoms &amp; signs".</a:t>
            </a:r>
            <a:endParaRPr lang="en-US" sz="1300" dirty="0"/>
          </a:p>
        </p:txBody>
      </p:sp>
      <p:sp>
        <p:nvSpPr>
          <p:cNvPr id="12" name="Text 10"/>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 15</a:t>
            </a:r>
            <a:endParaRPr lang="en-US" sz="1200" dirty="0"/>
          </a:p>
        </p:txBody>
      </p:sp>
      <p:sp>
        <p:nvSpPr>
          <p:cNvPr id="13" name="Text 11"/>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WHAT YOU WILL LEARN</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This tutorial walks through seven steps beginning with a raw triage table and concluding with a scored LLM</a:t>
            </a:r>
            <a:endParaRPr lang="en-US" sz="2600" dirty="0"/>
          </a:p>
        </p:txBody>
      </p:sp>
      <p:sp>
        <p:nvSpPr>
          <p:cNvPr id="4" name="Shape 2"/>
          <p:cNvSpPr/>
          <p:nvPr/>
        </p:nvSpPr>
        <p:spPr>
          <a:xfrm>
            <a:off x="825500" y="1937941"/>
            <a:ext cx="0" cy="514350"/>
          </a:xfrm>
          <a:prstGeom prst="line">
            <a:avLst/>
          </a:prstGeom>
          <a:noFill/>
          <a:ln w="25400">
            <a:solidFill>
              <a:srgbClr val="0E6E6C"/>
            </a:solidFill>
            <a:prstDash val="solid"/>
          </a:ln>
        </p:spPr>
      </p:sp>
      <p:sp>
        <p:nvSpPr>
          <p:cNvPr id="5" name="Text 3"/>
          <p:cNvSpPr/>
          <p:nvPr/>
        </p:nvSpPr>
        <p:spPr>
          <a:xfrm>
            <a:off x="965200" y="1937941"/>
            <a:ext cx="1030782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By the end you will be able to run an LLM locally on MIMIC data, prompt it three ways and measure whether the prompting helped</a:t>
            </a:r>
            <a:endParaRPr lang="en-US" sz="1500" dirty="0"/>
          </a:p>
        </p:txBody>
      </p:sp>
      <p:sp>
        <p:nvSpPr>
          <p:cNvPr id="6" name="Shape 4"/>
          <p:cNvSpPr/>
          <p:nvPr/>
        </p:nvSpPr>
        <p:spPr>
          <a:xfrm>
            <a:off x="812800" y="2817416"/>
            <a:ext cx="4064000" cy="0"/>
          </a:xfrm>
          <a:prstGeom prst="line">
            <a:avLst/>
          </a:prstGeom>
          <a:noFill/>
          <a:ln w="19050">
            <a:solidFill>
              <a:srgbClr val="0E6E6C"/>
            </a:solidFill>
            <a:prstDash val="solid"/>
          </a:ln>
        </p:spPr>
      </p:sp>
      <p:sp>
        <p:nvSpPr>
          <p:cNvPr id="7" name="Text 5"/>
          <p:cNvSpPr/>
          <p:nvPr/>
        </p:nvSpPr>
        <p:spPr>
          <a:xfrm>
            <a:off x="812800" y="2928541"/>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6E6C"/>
                </a:solidFill>
                <a:latin typeface="IBM Plex Sans" pitchFamily="34" charset="0"/>
                <a:ea typeface="IBM Plex Sans" pitchFamily="34" charset="-122"/>
                <a:cs typeface="IBM Plex Sans" pitchFamily="34" charset="-120"/>
              </a:rPr>
              <a:t>You will learn how to</a:t>
            </a:r>
            <a:endParaRPr lang="en-US" sz="1600" dirty="0"/>
          </a:p>
        </p:txBody>
      </p:sp>
      <p:sp>
        <p:nvSpPr>
          <p:cNvPr id="8" name="Text 6"/>
          <p:cNvSpPr/>
          <p:nvPr/>
        </p:nvSpPr>
        <p:spPr>
          <a:xfrm>
            <a:off x="812800" y="3273971"/>
            <a:ext cx="418592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12B"/>
                </a:solidFill>
                <a:latin typeface="IBM Plex Sans" pitchFamily="34" charset="0"/>
                <a:ea typeface="IBM Plex Sans" pitchFamily="34" charset="-122"/>
                <a:cs typeface="IBM Plex Sans" pitchFamily="34" charset="-120"/>
              </a:rPr>
              <a:t>Run an open-weight LLM on your own laptop with Ollama, so patient records never leave the machine.</a:t>
            </a:r>
            <a:endParaRPr lang="en-US" sz="1400" dirty="0"/>
          </a:p>
        </p:txBody>
      </p:sp>
      <p:sp>
        <p:nvSpPr>
          <p:cNvPr id="9" name="Text 7"/>
          <p:cNvSpPr/>
          <p:nvPr/>
        </p:nvSpPr>
        <p:spPr>
          <a:xfrm>
            <a:off x="812800" y="4148882"/>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12B"/>
                </a:solidFill>
                <a:latin typeface="IBM Plex Sans" pitchFamily="34" charset="0"/>
                <a:ea typeface="IBM Plex Sans" pitchFamily="34" charset="-122"/>
                <a:cs typeface="IBM Plex Sans" pitchFamily="34" charset="-120"/>
              </a:rPr>
              <a:t>Turn a row of MIMIC-IV-ED data into a prompt and get structured JSON back.</a:t>
            </a:r>
            <a:endParaRPr lang="en-US" sz="1400" dirty="0"/>
          </a:p>
        </p:txBody>
      </p:sp>
      <p:sp>
        <p:nvSpPr>
          <p:cNvPr id="10" name="Text 8"/>
          <p:cNvSpPr/>
          <p:nvPr/>
        </p:nvSpPr>
        <p:spPr>
          <a:xfrm>
            <a:off x="812800" y="4766022"/>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12B"/>
                </a:solidFill>
                <a:latin typeface="IBM Plex Sans" pitchFamily="34" charset="0"/>
                <a:ea typeface="IBM Plex Sans" pitchFamily="34" charset="-122"/>
                <a:cs typeface="IBM Plex Sans" pitchFamily="34" charset="-120"/>
              </a:rPr>
              <a:t>Compare zero-shot, few-shot and chain-of-thought prompting against real ED diagnoses.</a:t>
            </a:r>
            <a:endParaRPr lang="en-US" sz="1400" dirty="0"/>
          </a:p>
        </p:txBody>
      </p:sp>
      <p:sp>
        <p:nvSpPr>
          <p:cNvPr id="11" name="Shape 9"/>
          <p:cNvSpPr/>
          <p:nvPr/>
        </p:nvSpPr>
        <p:spPr>
          <a:xfrm>
            <a:off x="5486400" y="2817416"/>
            <a:ext cx="5892800" cy="0"/>
          </a:xfrm>
          <a:prstGeom prst="line">
            <a:avLst/>
          </a:prstGeom>
          <a:noFill/>
          <a:ln w="19050">
            <a:solidFill>
              <a:srgbClr val="17212B"/>
            </a:solidFill>
            <a:prstDash val="solid"/>
          </a:ln>
        </p:spPr>
      </p:sp>
      <p:sp>
        <p:nvSpPr>
          <p:cNvPr id="12" name="Text 10"/>
          <p:cNvSpPr/>
          <p:nvPr/>
        </p:nvSpPr>
        <p:spPr>
          <a:xfrm>
            <a:off x="5486400" y="2928541"/>
            <a:ext cx="60695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The seven steps</a:t>
            </a:r>
            <a:endParaRPr lang="en-US" sz="1600" dirty="0"/>
          </a:p>
        </p:txBody>
      </p:sp>
      <p:sp>
        <p:nvSpPr>
          <p:cNvPr id="13" name="Text 11"/>
          <p:cNvSpPr/>
          <p:nvPr/>
        </p:nvSpPr>
        <p:spPr>
          <a:xfrm>
            <a:off x="5543352" y="3273971"/>
            <a:ext cx="6005012" cy="1829792"/>
          </a:xfrm>
          <a:prstGeom prst="rect">
            <a:avLst/>
          </a:prstGeom>
          <a:noFill/>
          <a:ln/>
        </p:spPr>
        <p:txBody>
          <a:bodyPr wrap="square" lIns="0" tIns="0" rIns="0" bIns="0" rtlCol="0" anchor="t">
            <a:normAutofit/>
          </a:bodyPr>
          <a:lstStyle/>
          <a:p>
            <a:pPr algn="l" marL="197048" indent="-197048">
              <a:lnSpc>
                <a:spcPts val="2030"/>
              </a:lnSpc>
              <a:buSzPct val="100000"/>
              <a:buFontTx/>
              <a:buAutoNum type="arabicPeriod" startAt="1"/>
            </a:pPr>
            <a:r>
              <a:rPr lang="en-US" sz="1400" dirty="0">
                <a:solidFill>
                  <a:srgbClr val="17212B"/>
                </a:solidFill>
                <a:latin typeface="IBM Plex Sans" pitchFamily="34" charset="0"/>
                <a:ea typeface="IBM Plex Sans" pitchFamily="34" charset="-122"/>
                <a:cs typeface="IBM Plex Sans" pitchFamily="34" charset="-120"/>
              </a:rPr>
              <a:t>Set up a local model with Ollama</a:t>
            </a:r>
            <a:endParaRPr lang="en-US" sz="1400" dirty="0"/>
          </a:p>
          <a:p>
            <a:pPr algn="l" marL="197048" indent="-197048">
              <a:lnSpc>
                <a:spcPts val="2030"/>
              </a:lnSpc>
              <a:buSzPct val="100000"/>
              <a:buFontTx/>
              <a:buAutoNum type="arabicPeriod" startAt="1"/>
            </a:pPr>
            <a:r>
              <a:rPr lang="en-US" sz="1400" dirty="0">
                <a:solidFill>
                  <a:srgbClr val="17212B"/>
                </a:solidFill>
                <a:latin typeface="IBM Plex Sans" pitchFamily="34" charset="0"/>
                <a:ea typeface="IBM Plex Sans" pitchFamily="34" charset="-122"/>
                <a:cs typeface="IBM Plex Sans" pitchFamily="34" charset="-120"/>
              </a:rPr>
              <a:t>Build the cohort from five demo tables</a:t>
            </a:r>
            <a:endParaRPr lang="en-US" sz="1400" dirty="0"/>
          </a:p>
          <a:p>
            <a:pPr algn="l" marL="197048" indent="-197048">
              <a:lnSpc>
                <a:spcPts val="2030"/>
              </a:lnSpc>
              <a:buSzPct val="100000"/>
              <a:buFontTx/>
              <a:buAutoNum type="arabicPeriod" startAt="1"/>
            </a:pPr>
            <a:r>
              <a:rPr lang="en-US" sz="1400" dirty="0">
                <a:solidFill>
                  <a:srgbClr val="17212B"/>
                </a:solidFill>
                <a:latin typeface="IBM Plex Sans" pitchFamily="34" charset="0"/>
                <a:ea typeface="IBM Plex Sans" pitchFamily="34" charset="-122"/>
                <a:cs typeface="IBM Plex Sans" pitchFamily="34" charset="-120"/>
              </a:rPr>
              <a:t>Group each diagnosis into an ICD-10 chapter</a:t>
            </a:r>
            <a:endParaRPr lang="en-US" sz="1400" dirty="0"/>
          </a:p>
          <a:p>
            <a:pPr algn="l" marL="197048" indent="-197048">
              <a:lnSpc>
                <a:spcPts val="2030"/>
              </a:lnSpc>
              <a:buSzPct val="100000"/>
              <a:buFontTx/>
              <a:buAutoNum type="arabicPeriod" startAt="1"/>
            </a:pPr>
            <a:r>
              <a:rPr lang="en-US" sz="1400" dirty="0">
                <a:solidFill>
                  <a:srgbClr val="17212B"/>
                </a:solidFill>
                <a:latin typeface="IBM Plex Sans" pitchFamily="34" charset="0"/>
                <a:ea typeface="IBM Plex Sans" pitchFamily="34" charset="-122"/>
                <a:cs typeface="IBM Plex Sans" pitchFamily="34" charset="-120"/>
              </a:rPr>
              <a:t>Turn each triage row into a text prompt</a:t>
            </a:r>
            <a:endParaRPr lang="en-US" sz="1400" dirty="0"/>
          </a:p>
          <a:p>
            <a:pPr algn="l" marL="197048" indent="-197048">
              <a:lnSpc>
                <a:spcPts val="2030"/>
              </a:lnSpc>
              <a:buSzPct val="100000"/>
              <a:buFontTx/>
              <a:buAutoNum type="arabicPeriod" startAt="1"/>
            </a:pPr>
            <a:r>
              <a:rPr lang="en-US" sz="1400" dirty="0">
                <a:solidFill>
                  <a:srgbClr val="17212B"/>
                </a:solidFill>
                <a:latin typeface="IBM Plex Sans" pitchFamily="34" charset="0"/>
                <a:ea typeface="IBM Plex Sans" pitchFamily="34" charset="-122"/>
                <a:cs typeface="IBM Plex Sans" pitchFamily="34" charset="-120"/>
              </a:rPr>
              <a:t>Ask the model with three prompting techniques</a:t>
            </a:r>
            <a:endParaRPr lang="en-US" sz="1400" dirty="0"/>
          </a:p>
          <a:p>
            <a:pPr algn="l" marL="197048" indent="-197048">
              <a:lnSpc>
                <a:spcPts val="2030"/>
              </a:lnSpc>
              <a:buSzPct val="100000"/>
              <a:buFontTx/>
              <a:buAutoNum type="arabicPeriod" startAt="1"/>
            </a:pPr>
            <a:r>
              <a:rPr lang="en-US" sz="1400" dirty="0">
                <a:solidFill>
                  <a:srgbClr val="17212B"/>
                </a:solidFill>
                <a:latin typeface="IBM Plex Sans" pitchFamily="34" charset="0"/>
                <a:ea typeface="IBM Plex Sans" pitchFamily="34" charset="-122"/>
                <a:cs typeface="IBM Plex Sans" pitchFamily="34" charset="-120"/>
              </a:rPr>
              <a:t>Score the answers by chapter</a:t>
            </a:r>
            <a:endParaRPr lang="en-US" sz="1400" dirty="0"/>
          </a:p>
          <a:p>
            <a:pPr algn="l" marL="197048" indent="-197048">
              <a:lnSpc>
                <a:spcPts val="2030"/>
              </a:lnSpc>
              <a:buSzPct val="100000"/>
              <a:buFontTx/>
              <a:buAutoNum type="arabicPeriod" startAt="1"/>
            </a:pPr>
            <a:r>
              <a:rPr lang="en-US" sz="1400" dirty="0">
                <a:solidFill>
                  <a:srgbClr val="17212B"/>
                </a:solidFill>
                <a:latin typeface="IBM Plex Sans" pitchFamily="34" charset="0"/>
                <a:ea typeface="IBM Plex Sans" pitchFamily="34" charset="-122"/>
                <a:cs typeface="IBM Plex Sans" pitchFamily="34" charset="-120"/>
              </a:rPr>
              <a:t>Read the results and their limits</a:t>
            </a:r>
            <a:endParaRPr lang="en-US" sz="1400" dirty="0"/>
          </a:p>
        </p:txBody>
      </p:sp>
      <p:sp>
        <p:nvSpPr>
          <p:cNvPr id="14" name="Text 12"/>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WHAT THIS BUILDS ON</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Module 13 provided an overview of prompting techniques and this tutorial tests them on real ED visits</a:t>
            </a:r>
            <a:endParaRPr lang="en-US" sz="2600" dirty="0"/>
          </a:p>
        </p:txBody>
      </p:sp>
      <p:sp>
        <p:nvSpPr>
          <p:cNvPr id="4" name="Shape 2"/>
          <p:cNvSpPr/>
          <p:nvPr/>
        </p:nvSpPr>
        <p:spPr>
          <a:xfrm>
            <a:off x="825500" y="1937941"/>
            <a:ext cx="0" cy="257175"/>
          </a:xfrm>
          <a:prstGeom prst="line">
            <a:avLst/>
          </a:prstGeom>
          <a:noFill/>
          <a:ln w="25400">
            <a:solidFill>
              <a:srgbClr val="0E6E6C"/>
            </a:solidFill>
            <a:prstDash val="solid"/>
          </a:ln>
        </p:spPr>
      </p:sp>
      <p:sp>
        <p:nvSpPr>
          <p:cNvPr id="5" name="Text 3"/>
          <p:cNvSpPr/>
          <p:nvPr/>
        </p:nvSpPr>
        <p:spPr>
          <a:xfrm>
            <a:off x="965200" y="1937941"/>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Every technique comes from the course, while the MIMIC-IV-ED tables and the measured accuracy are new</a:t>
            </a:r>
            <a:endParaRPr lang="en-US" sz="1500" dirty="0"/>
          </a:p>
        </p:txBody>
      </p:sp>
      <p:sp>
        <p:nvSpPr>
          <p:cNvPr id="6" name="Shape 4"/>
          <p:cNvSpPr/>
          <p:nvPr/>
        </p:nvSpPr>
        <p:spPr>
          <a:xfrm>
            <a:off x="812800" y="2611041"/>
            <a:ext cx="4978400" cy="0"/>
          </a:xfrm>
          <a:prstGeom prst="line">
            <a:avLst/>
          </a:prstGeom>
          <a:noFill/>
          <a:ln w="19050">
            <a:solidFill>
              <a:srgbClr val="17212B"/>
            </a:solidFill>
            <a:prstDash val="solid"/>
          </a:ln>
        </p:spPr>
      </p:sp>
      <p:sp>
        <p:nvSpPr>
          <p:cNvPr id="7" name="Text 5"/>
          <p:cNvSpPr/>
          <p:nvPr/>
        </p:nvSpPr>
        <p:spPr>
          <a:xfrm>
            <a:off x="812800" y="2722166"/>
            <a:ext cx="51277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From the course</a:t>
            </a:r>
            <a:endParaRPr lang="en-US" sz="1600" dirty="0"/>
          </a:p>
        </p:txBody>
      </p:sp>
      <p:sp>
        <p:nvSpPr>
          <p:cNvPr id="8" name="Text 6"/>
          <p:cNvSpPr/>
          <p:nvPr/>
        </p:nvSpPr>
        <p:spPr>
          <a:xfrm>
            <a:off x="812800" y="3042196"/>
            <a:ext cx="5127752"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7212B"/>
                </a:solidFill>
                <a:latin typeface="IBM Plex Sans" pitchFamily="34" charset="0"/>
                <a:ea typeface="IBM Plex Sans" pitchFamily="34" charset="-122"/>
                <a:cs typeface="IBM Plex Sans" pitchFamily="34" charset="-120"/>
              </a:rPr>
              <a:t>The course covered zero-shot, few-shot and chain-of-thought prompting and showed how to check JSON output with Pydantic.</a:t>
            </a:r>
            <a:endParaRPr lang="en-US" sz="1400" dirty="0"/>
          </a:p>
        </p:txBody>
      </p:sp>
      <p:sp>
        <p:nvSpPr>
          <p:cNvPr id="9" name="Shape 7"/>
          <p:cNvSpPr/>
          <p:nvPr/>
        </p:nvSpPr>
        <p:spPr>
          <a:xfrm>
            <a:off x="6400800" y="2611041"/>
            <a:ext cx="4978400" cy="0"/>
          </a:xfrm>
          <a:prstGeom prst="line">
            <a:avLst/>
          </a:prstGeom>
          <a:noFill/>
          <a:ln w="19050">
            <a:solidFill>
              <a:srgbClr val="0E6E6C"/>
            </a:solidFill>
            <a:prstDash val="solid"/>
          </a:ln>
        </p:spPr>
      </p:sp>
      <p:sp>
        <p:nvSpPr>
          <p:cNvPr id="10" name="Text 8"/>
          <p:cNvSpPr/>
          <p:nvPr/>
        </p:nvSpPr>
        <p:spPr>
          <a:xfrm>
            <a:off x="6400800" y="2722166"/>
            <a:ext cx="51277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6E6C"/>
                </a:solidFill>
                <a:latin typeface="IBM Plex Sans" pitchFamily="34" charset="0"/>
                <a:ea typeface="IBM Plex Sans" pitchFamily="34" charset="-122"/>
                <a:cs typeface="IBM Plex Sans" pitchFamily="34" charset="-120"/>
              </a:rPr>
              <a:t>New here</a:t>
            </a:r>
            <a:endParaRPr lang="en-US" sz="1600" dirty="0"/>
          </a:p>
        </p:txBody>
      </p:sp>
      <p:sp>
        <p:nvSpPr>
          <p:cNvPr id="11" name="Text 9"/>
          <p:cNvSpPr/>
          <p:nvPr/>
        </p:nvSpPr>
        <p:spPr>
          <a:xfrm>
            <a:off x="6400800" y="3042196"/>
            <a:ext cx="5127752"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7212B"/>
                </a:solidFill>
                <a:latin typeface="IBM Plex Sans" pitchFamily="34" charset="0"/>
                <a:ea typeface="IBM Plex Sans" pitchFamily="34" charset="-122"/>
                <a:cs typeface="IBM Plex Sans" pitchFamily="34" charset="-120"/>
              </a:rPr>
              <a:t>This tutorial applies them to MIMIC-IV-ED triage records, uses real ED diagnoses as labels and measures how accurate each technique is.</a:t>
            </a:r>
            <a:endParaRPr lang="en-US" sz="1400" dirty="0"/>
          </a:p>
        </p:txBody>
      </p:sp>
      <p:sp>
        <p:nvSpPr>
          <p:cNvPr id="12" name="Text 10"/>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BEFORE YOU START (1 OF 2)</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Before step 1, get the code onto your machine and give it its own Python environment</a:t>
            </a:r>
            <a:endParaRPr lang="en-US" sz="2600" dirty="0"/>
          </a:p>
        </p:txBody>
      </p:sp>
      <p:sp>
        <p:nvSpPr>
          <p:cNvPr id="4" name="Shape 2"/>
          <p:cNvSpPr/>
          <p:nvPr/>
        </p:nvSpPr>
        <p:spPr>
          <a:xfrm>
            <a:off x="825500" y="1937941"/>
            <a:ext cx="0" cy="257175"/>
          </a:xfrm>
          <a:prstGeom prst="line">
            <a:avLst/>
          </a:prstGeom>
          <a:noFill/>
          <a:ln w="25400">
            <a:solidFill>
              <a:srgbClr val="0E6E6C"/>
            </a:solidFill>
            <a:prstDash val="solid"/>
          </a:ln>
        </p:spPr>
      </p:sp>
      <p:sp>
        <p:nvSpPr>
          <p:cNvPr id="5" name="Text 3"/>
          <p:cNvSpPr/>
          <p:nvPr/>
        </p:nvSpPr>
        <p:spPr>
          <a:xfrm>
            <a:off x="965200" y="1937941"/>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The demo data is already in the repo, so you don't need a PhysioNet account to follow along</a:t>
            </a:r>
            <a:endParaRPr lang="en-US" sz="1500" dirty="0"/>
          </a:p>
        </p:txBody>
      </p:sp>
      <p:sp>
        <p:nvSpPr>
          <p:cNvPr id="6" name="Shape 4"/>
          <p:cNvSpPr/>
          <p:nvPr/>
        </p:nvSpPr>
        <p:spPr>
          <a:xfrm>
            <a:off x="812800" y="2509441"/>
            <a:ext cx="6604000" cy="0"/>
          </a:xfrm>
          <a:prstGeom prst="line">
            <a:avLst/>
          </a:prstGeom>
          <a:noFill/>
          <a:ln w="19050">
            <a:solidFill>
              <a:srgbClr val="17212B"/>
            </a:solidFill>
            <a:prstDash val="solid"/>
          </a:ln>
        </p:spPr>
      </p:sp>
      <p:sp>
        <p:nvSpPr>
          <p:cNvPr id="7" name="Text 5"/>
          <p:cNvSpPr/>
          <p:nvPr/>
        </p:nvSpPr>
        <p:spPr>
          <a:xfrm>
            <a:off x="812800" y="262056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1. Clone the repo</a:t>
            </a:r>
            <a:endParaRPr lang="en-US" sz="1600" dirty="0"/>
          </a:p>
        </p:txBody>
      </p:sp>
      <p:sp>
        <p:nvSpPr>
          <p:cNvPr id="8" name="Text 6"/>
          <p:cNvSpPr/>
          <p:nvPr/>
        </p:nvSpPr>
        <p:spPr>
          <a:xfrm>
            <a:off x="812800" y="2940596"/>
            <a:ext cx="680212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git clone https://github.com/bja2376/triage-llm-tutorial.git</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cd triage-llm-tutorial</a:t>
            </a:r>
            <a:endParaRPr lang="en-US" sz="1200" dirty="0"/>
          </a:p>
        </p:txBody>
      </p:sp>
      <p:sp>
        <p:nvSpPr>
          <p:cNvPr id="9" name="Text 7"/>
          <p:cNvSpPr/>
          <p:nvPr/>
        </p:nvSpPr>
        <p:spPr>
          <a:xfrm>
            <a:off x="812800" y="355525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2. Make and activate a virtual environment</a:t>
            </a:r>
            <a:endParaRPr lang="en-US" sz="1600" dirty="0"/>
          </a:p>
        </p:txBody>
      </p:sp>
      <p:sp>
        <p:nvSpPr>
          <p:cNvPr id="10" name="Text 8"/>
          <p:cNvSpPr/>
          <p:nvPr/>
        </p:nvSpPr>
        <p:spPr>
          <a:xfrm>
            <a:off x="812800" y="3875286"/>
            <a:ext cx="680212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python -m venv .venv</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source .venv/bin/activate      </a:t>
            </a:r>
            <a:r>
              <a:rPr lang="en-US" sz="1200" dirty="0">
                <a:solidFill>
                  <a:srgbClr val="5C6772"/>
                </a:solidFill>
                <a:latin typeface="IBM Plex Mono" pitchFamily="49" charset="0"/>
                <a:ea typeface="IBM Plex Mono" pitchFamily="49" charset="-122"/>
                <a:cs typeface="IBM Plex Mono" pitchFamily="49" charset="-120"/>
              </a:rPr>
              <a:t># macOS or Linux</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.venv\Scripts\activate         </a:t>
            </a:r>
            <a:r>
              <a:rPr lang="en-US" sz="1200" dirty="0">
                <a:solidFill>
                  <a:srgbClr val="5C6772"/>
                </a:solidFill>
                <a:latin typeface="IBM Plex Mono" pitchFamily="49" charset="0"/>
                <a:ea typeface="IBM Plex Mono" pitchFamily="49" charset="-122"/>
                <a:cs typeface="IBM Plex Mono" pitchFamily="49" charset="-120"/>
              </a:rPr>
              <a:t># Windows</a:t>
            </a:r>
            <a:endParaRPr lang="en-US" sz="1200" dirty="0"/>
          </a:p>
        </p:txBody>
      </p:sp>
      <p:sp>
        <p:nvSpPr>
          <p:cNvPr id="11" name="Text 9"/>
          <p:cNvSpPr/>
          <p:nvPr/>
        </p:nvSpPr>
        <p:spPr>
          <a:xfrm>
            <a:off x="812800" y="469567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3. Install Jupyter and open the notebook</a:t>
            </a:r>
            <a:endParaRPr lang="en-US" sz="1600" dirty="0"/>
          </a:p>
        </p:txBody>
      </p:sp>
      <p:sp>
        <p:nvSpPr>
          <p:cNvPr id="12" name="Text 10"/>
          <p:cNvSpPr/>
          <p:nvPr/>
        </p:nvSpPr>
        <p:spPr>
          <a:xfrm>
            <a:off x="812800" y="5015706"/>
            <a:ext cx="680212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pip install jupyter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jupyter notebook triage_llm_tutorial.ipynb</a:t>
            </a:r>
            <a:endParaRPr lang="en-US" sz="1200" dirty="0"/>
          </a:p>
        </p:txBody>
      </p:sp>
      <p:sp>
        <p:nvSpPr>
          <p:cNvPr id="13" name="Shape 11"/>
          <p:cNvSpPr/>
          <p:nvPr/>
        </p:nvSpPr>
        <p:spPr>
          <a:xfrm>
            <a:off x="7823200" y="2509441"/>
            <a:ext cx="3556000" cy="0"/>
          </a:xfrm>
          <a:prstGeom prst="line">
            <a:avLst/>
          </a:prstGeom>
          <a:noFill/>
          <a:ln w="19050">
            <a:solidFill>
              <a:srgbClr val="0E6E6C"/>
            </a:solidFill>
            <a:prstDash val="solid"/>
          </a:ln>
        </p:spPr>
      </p:sp>
      <p:sp>
        <p:nvSpPr>
          <p:cNvPr id="14" name="Text 12"/>
          <p:cNvSpPr/>
          <p:nvPr/>
        </p:nvSpPr>
        <p:spPr>
          <a:xfrm>
            <a:off x="7823200" y="2620566"/>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sp>
        <p:nvSpPr>
          <p:cNvPr id="15" name="Text 13"/>
          <p:cNvSpPr/>
          <p:nvPr/>
        </p:nvSpPr>
        <p:spPr>
          <a:xfrm>
            <a:off x="7823200" y="2910086"/>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After cloning, the folder holds the data and the notebook.</a:t>
            </a:r>
            <a:endParaRPr lang="en-US" sz="1300" dirty="0"/>
          </a:p>
        </p:txBody>
      </p:sp>
      <p:sp>
        <p:nvSpPr>
          <p:cNvPr id="16" name="Text 14"/>
          <p:cNvSpPr/>
          <p:nvPr/>
        </p:nvSpPr>
        <p:spPr>
          <a:xfrm>
            <a:off x="7823200" y="3448546"/>
            <a:ext cx="366268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data/</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triage_llm_tutorial.ipynb</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triage_llm_tutorial.pdf</a:t>
            </a:r>
            <a:endParaRPr lang="en-US" sz="1200" dirty="0"/>
          </a:p>
        </p:txBody>
      </p:sp>
      <p:sp>
        <p:nvSpPr>
          <p:cNvPr id="17" name="Text 15"/>
          <p:cNvSpPr/>
          <p:nvPr/>
        </p:nvSpPr>
        <p:spPr>
          <a:xfrm>
            <a:off x="7823200" y="4192736"/>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Once the environment is active, your terminal prompt starts with (.venv).</a:t>
            </a:r>
            <a:endParaRPr lang="en-US" sz="1300" dirty="0"/>
          </a:p>
        </p:txBody>
      </p:sp>
      <p:sp>
        <p:nvSpPr>
          <p:cNvPr id="18" name="Text 16"/>
          <p:cNvSpPr/>
          <p:nvPr/>
        </p:nvSpPr>
        <p:spPr>
          <a:xfrm>
            <a:off x="7823200" y="4731196"/>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Jupyter then opens the notebook in your browser.</a:t>
            </a:r>
            <a:endParaRPr lang="en-US" sz="1300" dirty="0"/>
          </a:p>
        </p:txBody>
      </p:sp>
      <p:sp>
        <p:nvSpPr>
          <p:cNvPr id="19" name="Text 17"/>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section "Before you start"</a:t>
            </a:r>
            <a:endParaRPr lang="en-US" sz="1200" dirty="0"/>
          </a:p>
        </p:txBody>
      </p:sp>
      <p:sp>
        <p:nvSpPr>
          <p:cNvPr id="20" name="Text 18"/>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BEFORE YOU START (2 OF 2)</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Then install Ollama, which runs the model on your laptop, and run the whole notebook</a:t>
            </a:r>
            <a:endParaRPr lang="en-US" sz="2600" dirty="0"/>
          </a:p>
        </p:txBody>
      </p:sp>
      <p:sp>
        <p:nvSpPr>
          <p:cNvPr id="4" name="Shape 2"/>
          <p:cNvSpPr/>
          <p:nvPr/>
        </p:nvSpPr>
        <p:spPr>
          <a:xfrm>
            <a:off x="825500" y="1937941"/>
            <a:ext cx="0" cy="257175"/>
          </a:xfrm>
          <a:prstGeom prst="line">
            <a:avLst/>
          </a:prstGeom>
          <a:noFill/>
          <a:ln w="25400">
            <a:solidFill>
              <a:srgbClr val="0E6E6C"/>
            </a:solidFill>
            <a:prstDash val="solid"/>
          </a:ln>
        </p:spPr>
      </p:sp>
      <p:sp>
        <p:nvSpPr>
          <p:cNvPr id="5" name="Text 3"/>
          <p:cNvSpPr/>
          <p:nvPr/>
        </p:nvSpPr>
        <p:spPr>
          <a:xfrm>
            <a:off x="965200" y="1937941"/>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Ollama has to be running before you start the notebook, because the setup cell asks it to download the model</a:t>
            </a:r>
            <a:endParaRPr lang="en-US" sz="1500" dirty="0"/>
          </a:p>
        </p:txBody>
      </p:sp>
      <p:sp>
        <p:nvSpPr>
          <p:cNvPr id="6" name="Shape 4"/>
          <p:cNvSpPr/>
          <p:nvPr/>
        </p:nvSpPr>
        <p:spPr>
          <a:xfrm>
            <a:off x="812800" y="2509441"/>
            <a:ext cx="6604000" cy="0"/>
          </a:xfrm>
          <a:prstGeom prst="line">
            <a:avLst/>
          </a:prstGeom>
          <a:noFill/>
          <a:ln w="19050">
            <a:solidFill>
              <a:srgbClr val="17212B"/>
            </a:solidFill>
            <a:prstDash val="solid"/>
          </a:ln>
        </p:spPr>
      </p:sp>
      <p:sp>
        <p:nvSpPr>
          <p:cNvPr id="7" name="Text 5"/>
          <p:cNvSpPr/>
          <p:nvPr/>
        </p:nvSpPr>
        <p:spPr>
          <a:xfrm>
            <a:off x="812800" y="262056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4. Install Ollama</a:t>
            </a:r>
            <a:endParaRPr lang="en-US" sz="1600" dirty="0"/>
          </a:p>
        </p:txBody>
      </p:sp>
      <p:sp>
        <p:nvSpPr>
          <p:cNvPr id="8" name="Text 6"/>
          <p:cNvSpPr/>
          <p:nvPr/>
        </p:nvSpPr>
        <p:spPr>
          <a:xfrm>
            <a:off x="812800" y="2940596"/>
            <a:ext cx="68021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On macOS or Windows, download the installer from ollama.com/download and open the app. On Linux, run</a:t>
            </a:r>
            <a:endParaRPr lang="en-US" sz="1300" dirty="0"/>
          </a:p>
        </p:txBody>
      </p:sp>
      <p:sp>
        <p:nvSpPr>
          <p:cNvPr id="9" name="Text 7"/>
          <p:cNvSpPr/>
          <p:nvPr/>
        </p:nvSpPr>
        <p:spPr>
          <a:xfrm>
            <a:off x="812800" y="3479056"/>
            <a:ext cx="680212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curl -fsSL https://ollama.com/install.sh | sh</a:t>
            </a:r>
            <a:endParaRPr lang="en-US" sz="1200" dirty="0"/>
          </a:p>
        </p:txBody>
      </p:sp>
      <p:sp>
        <p:nvSpPr>
          <p:cNvPr id="10" name="Text 8"/>
          <p:cNvSpPr/>
          <p:nvPr/>
        </p:nvSpPr>
        <p:spPr>
          <a:xfrm>
            <a:off x="812800" y="388798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5. Check that it works</a:t>
            </a:r>
            <a:endParaRPr lang="en-US" sz="1600" dirty="0"/>
          </a:p>
        </p:txBody>
      </p:sp>
      <p:sp>
        <p:nvSpPr>
          <p:cNvPr id="11" name="Text 9"/>
          <p:cNvSpPr/>
          <p:nvPr/>
        </p:nvSpPr>
        <p:spPr>
          <a:xfrm>
            <a:off x="812800" y="4208016"/>
            <a:ext cx="680212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ollama --version</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ollama pull qwen2.5:3b    </a:t>
            </a:r>
            <a:r>
              <a:rPr lang="en-US" sz="1200" dirty="0">
                <a:solidFill>
                  <a:srgbClr val="5C6772"/>
                </a:solidFill>
                <a:latin typeface="IBM Plex Mono" pitchFamily="49" charset="0"/>
                <a:ea typeface="IBM Plex Mono" pitchFamily="49" charset="-122"/>
                <a:cs typeface="IBM Plex Mono" pitchFamily="49" charset="-120"/>
              </a:rPr>
              <a:t># optional, the notebook does this too</a:t>
            </a:r>
            <a:endParaRPr lang="en-US" sz="1200" dirty="0"/>
          </a:p>
        </p:txBody>
      </p:sp>
      <p:sp>
        <p:nvSpPr>
          <p:cNvPr id="12" name="Text 10"/>
          <p:cNvSpPr/>
          <p:nvPr/>
        </p:nvSpPr>
        <p:spPr>
          <a:xfrm>
            <a:off x="812800" y="482267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6. Run every cell</a:t>
            </a:r>
            <a:endParaRPr lang="en-US" sz="1600" dirty="0"/>
          </a:p>
        </p:txBody>
      </p:sp>
      <p:sp>
        <p:nvSpPr>
          <p:cNvPr id="13" name="Text 11"/>
          <p:cNvSpPr/>
          <p:nvPr/>
        </p:nvSpPr>
        <p:spPr>
          <a:xfrm>
            <a:off x="812800" y="5142706"/>
            <a:ext cx="68021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In Jupyter, open the Run menu and choose Run All Cells. Keep Ollama open until the last cell finishes.</a:t>
            </a:r>
            <a:endParaRPr lang="en-US" sz="1300" dirty="0"/>
          </a:p>
        </p:txBody>
      </p:sp>
      <p:sp>
        <p:nvSpPr>
          <p:cNvPr id="14" name="Shape 12"/>
          <p:cNvSpPr/>
          <p:nvPr/>
        </p:nvSpPr>
        <p:spPr>
          <a:xfrm>
            <a:off x="7823200" y="2509441"/>
            <a:ext cx="3556000" cy="0"/>
          </a:xfrm>
          <a:prstGeom prst="line">
            <a:avLst/>
          </a:prstGeom>
          <a:noFill/>
          <a:ln w="19050">
            <a:solidFill>
              <a:srgbClr val="0E6E6C"/>
            </a:solidFill>
            <a:prstDash val="solid"/>
          </a:ln>
        </p:spPr>
      </p:sp>
      <p:sp>
        <p:nvSpPr>
          <p:cNvPr id="15" name="Text 13"/>
          <p:cNvSpPr/>
          <p:nvPr/>
        </p:nvSpPr>
        <p:spPr>
          <a:xfrm>
            <a:off x="7823200" y="2620566"/>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sp>
        <p:nvSpPr>
          <p:cNvPr id="16" name="Text 14"/>
          <p:cNvSpPr/>
          <p:nvPr/>
        </p:nvSpPr>
        <p:spPr>
          <a:xfrm>
            <a:off x="7823200" y="2910086"/>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ollama --version prints a version number, and the pull ends with</a:t>
            </a:r>
            <a:endParaRPr lang="en-US" sz="1300" dirty="0"/>
          </a:p>
        </p:txBody>
      </p:sp>
      <p:sp>
        <p:nvSpPr>
          <p:cNvPr id="17" name="Text 15"/>
          <p:cNvSpPr/>
          <p:nvPr/>
        </p:nvSpPr>
        <p:spPr>
          <a:xfrm>
            <a:off x="7823200" y="3448546"/>
            <a:ext cx="366268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success</a:t>
            </a:r>
            <a:endParaRPr lang="en-US" sz="1200" dirty="0"/>
          </a:p>
        </p:txBody>
      </p:sp>
      <p:sp>
        <p:nvSpPr>
          <p:cNvPr id="18" name="Text 16"/>
          <p:cNvSpPr/>
          <p:nvPr/>
        </p:nvSpPr>
        <p:spPr>
          <a:xfrm>
            <a:off x="7823200" y="3781276"/>
            <a:ext cx="366268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The full run takes about 10 minutes on a laptop. Each code cell opens with a comment that says what it should print, so you can check every step against it.</a:t>
            </a:r>
            <a:endParaRPr lang="en-US" sz="1300" dirty="0"/>
          </a:p>
        </p:txBody>
      </p:sp>
      <p:sp>
        <p:nvSpPr>
          <p:cNvPr id="19" name="Text 17"/>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section "Before you start" and cell 4</a:t>
            </a:r>
            <a:endParaRPr lang="en-US" sz="1200" dirty="0"/>
          </a:p>
        </p:txBody>
      </p:sp>
      <p:sp>
        <p:nvSpPr>
          <p:cNvPr id="20" name="Text 18"/>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SETUP (STEP 1 OF 7)</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First, run a small open model locally so no patient record leaves the machine</a:t>
            </a:r>
            <a:endParaRPr lang="en-US" sz="2600" dirty="0"/>
          </a:p>
        </p:txBody>
      </p:sp>
      <p:sp>
        <p:nvSpPr>
          <p:cNvPr id="4" name="Shape 2"/>
          <p:cNvSpPr/>
          <p:nvPr/>
        </p:nvSpPr>
        <p:spPr>
          <a:xfrm>
            <a:off x="825500" y="1937941"/>
            <a:ext cx="0" cy="514350"/>
          </a:xfrm>
          <a:prstGeom prst="line">
            <a:avLst/>
          </a:prstGeom>
          <a:noFill/>
          <a:ln w="25400">
            <a:solidFill>
              <a:srgbClr val="0E6E6C"/>
            </a:solidFill>
            <a:prstDash val="solid"/>
          </a:ln>
        </p:spPr>
      </p:sp>
      <p:sp>
        <p:nvSpPr>
          <p:cNvPr id="5" name="Text 3"/>
          <p:cNvSpPr/>
          <p:nvPr/>
        </p:nvSpPr>
        <p:spPr>
          <a:xfrm>
            <a:off x="965200" y="1937941"/>
            <a:ext cx="1030782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A 3B model answers in about 2.3 seconds per call on a laptop, which is fast enough to score every stay in a reasonable amount of time</a:t>
            </a:r>
            <a:endParaRPr lang="en-US" sz="1500" dirty="0"/>
          </a:p>
        </p:txBody>
      </p:sp>
      <p:sp>
        <p:nvSpPr>
          <p:cNvPr id="6" name="Shape 4"/>
          <p:cNvSpPr/>
          <p:nvPr/>
        </p:nvSpPr>
        <p:spPr>
          <a:xfrm>
            <a:off x="812800" y="2766616"/>
            <a:ext cx="6604000" cy="0"/>
          </a:xfrm>
          <a:prstGeom prst="line">
            <a:avLst/>
          </a:prstGeom>
          <a:noFill/>
          <a:ln w="19050">
            <a:solidFill>
              <a:srgbClr val="17212B"/>
            </a:solidFill>
            <a:prstDash val="solid"/>
          </a:ln>
        </p:spPr>
      </p:sp>
      <p:sp>
        <p:nvSpPr>
          <p:cNvPr id="7" name="Text 5"/>
          <p:cNvSpPr/>
          <p:nvPr/>
        </p:nvSpPr>
        <p:spPr>
          <a:xfrm>
            <a:off x="812800" y="2877741"/>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The config cell</a:t>
            </a:r>
            <a:endParaRPr lang="en-US" sz="1600" dirty="0"/>
          </a:p>
        </p:txBody>
      </p:sp>
      <p:sp>
        <p:nvSpPr>
          <p:cNvPr id="8" name="Text 6"/>
          <p:cNvSpPr/>
          <p:nvPr/>
        </p:nvSpPr>
        <p:spPr>
          <a:xfrm>
            <a:off x="812800" y="3197771"/>
            <a:ext cx="6802120" cy="146551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MODEL   = "qwen2.5:3b"   </a:t>
            </a:r>
            <a:r>
              <a:rPr lang="en-US" sz="1200" dirty="0">
                <a:solidFill>
                  <a:srgbClr val="5C6772"/>
                </a:solidFill>
                <a:latin typeface="IBM Plex Mono" pitchFamily="49" charset="0"/>
                <a:ea typeface="IBM Plex Mono" pitchFamily="49" charset="-122"/>
                <a:cs typeface="IBM Plex Mono" pitchFamily="49" charset="-120"/>
              </a:rPr>
              <a:t># served by Ollama</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N_CASES = 1000           </a:t>
            </a:r>
            <a:r>
              <a:rPr lang="en-US" sz="1200" dirty="0">
                <a:solidFill>
                  <a:srgbClr val="5C6772"/>
                </a:solidFill>
                <a:latin typeface="IBM Plex Mono" pitchFamily="49" charset="0"/>
                <a:ea typeface="IBM Plex Mono" pitchFamily="49" charset="-122"/>
                <a:cs typeface="IBM Plex Mono" pitchFamily="49" charset="-120"/>
              </a:rPr>
              <a:t># lower = faster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SEED    = 42</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DATA    = Path("data")</a:t>
            </a:r>
            <a:endParaRPr lang="en-US" sz="1200" dirty="0"/>
          </a:p>
          <a:p>
            <a:pPr algn="l" indent="0" marL="0">
              <a:lnSpc>
                <a:spcPts val="1620"/>
              </a:lnSpc>
              <a:buNone/>
            </a:pP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print("pull:", ollama.pull(MODEL).status)</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print(ollama.show(MODEL).details)</a:t>
            </a:r>
            <a:endParaRPr lang="en-US" sz="1200" dirty="0"/>
          </a:p>
        </p:txBody>
      </p:sp>
      <p:sp>
        <p:nvSpPr>
          <p:cNvPr id="9" name="Text 7"/>
          <p:cNvSpPr/>
          <p:nvPr/>
        </p:nvSpPr>
        <p:spPr>
          <a:xfrm>
            <a:off x="812800" y="4815681"/>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One timed test call</a:t>
            </a:r>
            <a:endParaRPr lang="en-US" sz="1600" dirty="0"/>
          </a:p>
        </p:txBody>
      </p:sp>
      <p:sp>
        <p:nvSpPr>
          <p:cNvPr id="10" name="Text 8"/>
          <p:cNvSpPr/>
          <p:nvPr/>
        </p:nvSpPr>
        <p:spPr>
          <a:xfrm>
            <a:off x="812800" y="5135711"/>
            <a:ext cx="680212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r = ollama.chat(model=MODEL, messages=[{"role": "user",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"content": "Name one ICD-10 chapter."}],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options={"temperature": 0, "seed": SEED})</a:t>
            </a:r>
            <a:endParaRPr lang="en-US" sz="1200" dirty="0"/>
          </a:p>
        </p:txBody>
      </p:sp>
      <p:sp>
        <p:nvSpPr>
          <p:cNvPr id="11" name="Shape 9"/>
          <p:cNvSpPr/>
          <p:nvPr/>
        </p:nvSpPr>
        <p:spPr>
          <a:xfrm>
            <a:off x="7823200" y="2766616"/>
            <a:ext cx="3556000" cy="0"/>
          </a:xfrm>
          <a:prstGeom prst="line">
            <a:avLst/>
          </a:prstGeom>
          <a:noFill/>
          <a:ln w="19050">
            <a:solidFill>
              <a:srgbClr val="0E6E6C"/>
            </a:solidFill>
            <a:prstDash val="solid"/>
          </a:ln>
        </p:spPr>
      </p:sp>
      <p:sp>
        <p:nvSpPr>
          <p:cNvPr id="12" name="Text 10"/>
          <p:cNvSpPr/>
          <p:nvPr/>
        </p:nvSpPr>
        <p:spPr>
          <a:xfrm>
            <a:off x="7823200" y="2877741"/>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sp>
        <p:nvSpPr>
          <p:cNvPr id="13" name="Text 11"/>
          <p:cNvSpPr/>
          <p:nvPr/>
        </p:nvSpPr>
        <p:spPr>
          <a:xfrm>
            <a:off x="7823200" y="3167261"/>
            <a:ext cx="3662680" cy="12597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pull: success</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family='qwen2'</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parameter_size='3.1B'</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quantization_level='Q4_K_M'</a:t>
            </a:r>
            <a:endParaRPr lang="en-US" sz="1200" dirty="0"/>
          </a:p>
          <a:p>
            <a:pPr algn="l" indent="0" marL="0">
              <a:lnSpc>
                <a:spcPts val="1620"/>
              </a:lnSpc>
              <a:buNone/>
            </a:pP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2.3s per call</a:t>
            </a:r>
            <a:endParaRPr lang="en-US" sz="1200" dirty="0"/>
          </a:p>
        </p:txBody>
      </p:sp>
      <p:sp>
        <p:nvSpPr>
          <p:cNvPr id="14" name="Text 12"/>
          <p:cNvSpPr/>
          <p:nvPr/>
        </p:nvSpPr>
        <p:spPr>
          <a:xfrm>
            <a:off x="7823200" y="4528641"/>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The full run takes roughly the per-call time multiplied by 3 prompts and by N_CASES.</a:t>
            </a:r>
            <a:endParaRPr lang="en-US" sz="1300" dirty="0"/>
          </a:p>
        </p:txBody>
      </p:sp>
      <p:sp>
        <p:nvSpPr>
          <p:cNvPr id="15" name="Text 13"/>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cells 3–5</a:t>
            </a:r>
            <a:endParaRPr lang="en-US" sz="1200" dirty="0"/>
          </a:p>
        </p:txBody>
      </p:sp>
      <p:sp>
        <p:nvSpPr>
          <p:cNvPr id="16" name="Text 14"/>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6736"/>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0E6E6C"/>
                </a:solidFill>
                <a:latin typeface="IBM Plex Sans" pitchFamily="34" charset="0"/>
                <a:ea typeface="IBM Plex Sans" pitchFamily="34" charset="-122"/>
                <a:cs typeface="IBM Plex Sans" pitchFamily="34" charset="-120"/>
              </a:rPr>
              <a:t>DATA (STEP 2 OF 7)</a:t>
            </a:r>
            <a:endParaRPr lang="en-US" sz="1196" dirty="0"/>
          </a:p>
        </p:txBody>
      </p:sp>
      <p:sp>
        <p:nvSpPr>
          <p:cNvPr id="3" name="Text 1"/>
          <p:cNvSpPr/>
          <p:nvPr>
            <p:ph type="title"/>
          </p:nvPr>
        </p:nvSpPr>
        <p:spPr>
          <a:xfrm>
            <a:off x="812800" y="1100336"/>
            <a:ext cx="10464800" cy="777726"/>
          </a:xfrm>
          <a:prstGeom prst="rect">
            <a:avLst/>
          </a:prstGeom>
          <a:noFill/>
          <a:ln/>
        </p:spPr>
        <p:txBody>
          <a:bodyPr wrap="square" lIns="0" tIns="0" rIns="0" bIns="0" rtlCol="0" anchor="t">
            <a:normAutofit/>
          </a:bodyPr>
          <a:lstStyle/>
          <a:p>
            <a:pPr algn="l" indent="0" marL="0">
              <a:lnSpc>
                <a:spcPts val="2962"/>
              </a:lnSpc>
              <a:buNone/>
            </a:pPr>
            <a:r>
              <a:rPr lang="en-US" sz="2576" b="1" i="0" dirty="0">
                <a:solidFill>
                  <a:srgbClr val="17212B"/>
                </a:solidFill>
                <a:latin typeface="IBM Plex Sans" pitchFamily="34" charset="0"/>
                <a:ea typeface="IBM Plex Sans" pitchFamily="34" charset="-122"/>
                <a:cs typeface="IBM Plex Sans" pitchFamily="34" charset="-120"/>
              </a:rPr>
              <a:t>Next, we join five demo tables into one row per ED stay and keep only the fields known at triage</a:t>
            </a:r>
            <a:endParaRPr lang="en-US" sz="2576" dirty="0"/>
          </a:p>
        </p:txBody>
      </p:sp>
      <p:sp>
        <p:nvSpPr>
          <p:cNvPr id="4" name="Shape 2"/>
          <p:cNvSpPr/>
          <p:nvPr/>
        </p:nvSpPr>
        <p:spPr>
          <a:xfrm>
            <a:off x="825500" y="1928862"/>
            <a:ext cx="0" cy="509587"/>
          </a:xfrm>
          <a:prstGeom prst="line">
            <a:avLst/>
          </a:prstGeom>
          <a:noFill/>
          <a:ln w="25400">
            <a:solidFill>
              <a:srgbClr val="0E6E6C"/>
            </a:solidFill>
            <a:prstDash val="solid"/>
          </a:ln>
        </p:spPr>
      </p:sp>
      <p:sp>
        <p:nvSpPr>
          <p:cNvPr id="5" name="Text 3"/>
          <p:cNvSpPr/>
          <p:nvPr/>
        </p:nvSpPr>
        <p:spPr>
          <a:xfrm>
            <a:off x="965200" y="1928862"/>
            <a:ext cx="10307828" cy="534988"/>
          </a:xfrm>
          <a:prstGeom prst="rect">
            <a:avLst/>
          </a:prstGeom>
          <a:noFill/>
          <a:ln/>
        </p:spPr>
        <p:txBody>
          <a:bodyPr wrap="square" lIns="0" tIns="0" rIns="0" bIns="0" rtlCol="0" anchor="t">
            <a:normAutofit/>
          </a:bodyPr>
          <a:lstStyle/>
          <a:p>
            <a:pPr algn="l" indent="0" marL="0">
              <a:lnSpc>
                <a:spcPts val="2012"/>
              </a:lnSpc>
              <a:buNone/>
            </a:pPr>
            <a:r>
              <a:rPr lang="en-US" sz="1491" dirty="0">
                <a:solidFill>
                  <a:srgbClr val="3A4651"/>
                </a:solidFill>
                <a:latin typeface="IBM Plex Sans" pitchFamily="34" charset="0"/>
                <a:ea typeface="IBM Plex Sans" pitchFamily="34" charset="-122"/>
                <a:cs typeface="IBM Plex Sans" pitchFamily="34" charset="-120"/>
              </a:rPr>
              <a:t>The cohort has 221 stays from 63 patients, and we leave out anything recorded after the diagnosis so the answer doesn't leak into the prompt</a:t>
            </a:r>
            <a:endParaRPr lang="en-US" sz="1491" dirty="0"/>
          </a:p>
        </p:txBody>
      </p:sp>
      <p:sp>
        <p:nvSpPr>
          <p:cNvPr id="6" name="Shape 4"/>
          <p:cNvSpPr/>
          <p:nvPr/>
        </p:nvSpPr>
        <p:spPr>
          <a:xfrm>
            <a:off x="812800" y="2752775"/>
            <a:ext cx="6604000" cy="0"/>
          </a:xfrm>
          <a:prstGeom prst="line">
            <a:avLst/>
          </a:prstGeom>
          <a:noFill/>
          <a:ln w="19050">
            <a:solidFill>
              <a:srgbClr val="17212B"/>
            </a:solidFill>
            <a:prstDash val="solid"/>
          </a:ln>
        </p:spPr>
      </p:sp>
      <p:sp>
        <p:nvSpPr>
          <p:cNvPr id="7" name="Text 5"/>
          <p:cNvSpPr/>
          <p:nvPr/>
        </p:nvSpPr>
        <p:spPr>
          <a:xfrm>
            <a:off x="812800" y="2863900"/>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Load the tables and build the cohort</a:t>
            </a:r>
            <a:endParaRPr lang="en-US" sz="1600" dirty="0"/>
          </a:p>
        </p:txBody>
      </p:sp>
      <p:sp>
        <p:nvSpPr>
          <p:cNvPr id="8" name="Text 6"/>
          <p:cNvSpPr/>
          <p:nvPr/>
        </p:nvSpPr>
        <p:spPr>
          <a:xfrm>
            <a:off x="812800" y="3183930"/>
            <a:ext cx="6802120" cy="228843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edstays   = pd.read_csv(DATA / "ed/edstays.csv.gz")</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triage    = pd.read_csv(DATA / "ed/triage.csv.gz")</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diagnosis = pd.read_csv(DATA / "ed/diagnosis.csv.gz")</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patients  = pd.read_csv(DATA / "hosp/patients.csv.gz")</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d_icd     = pd.read_csv(DATA / "hosp/d_icd_diagnoses.csv.gz")</a:t>
            </a:r>
            <a:endParaRPr lang="en-US" sz="1200" dirty="0"/>
          </a:p>
          <a:p>
            <a:pPr algn="l" indent="0" marL="0">
              <a:lnSpc>
                <a:spcPts val="1620"/>
              </a:lnSpc>
              <a:buNone/>
            </a:pP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primary = diagnosis[diagnosis.seq_num == 1]</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cohort = (edstays</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.merge(triage, on="stay_id")</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.merge(patients, on="subject_id")</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.merge(primary, on="stay_id"))</a:t>
            </a:r>
            <a:endParaRPr lang="en-US" sz="1200" dirty="0"/>
          </a:p>
        </p:txBody>
      </p:sp>
      <p:sp>
        <p:nvSpPr>
          <p:cNvPr id="9" name="Shape 7"/>
          <p:cNvSpPr/>
          <p:nvPr/>
        </p:nvSpPr>
        <p:spPr>
          <a:xfrm>
            <a:off x="7823200" y="2752775"/>
            <a:ext cx="3556000" cy="0"/>
          </a:xfrm>
          <a:prstGeom prst="line">
            <a:avLst/>
          </a:prstGeom>
          <a:noFill/>
          <a:ln w="19050">
            <a:solidFill>
              <a:srgbClr val="0E6E6C"/>
            </a:solidFill>
            <a:prstDash val="solid"/>
          </a:ln>
        </p:spPr>
      </p:sp>
      <p:sp>
        <p:nvSpPr>
          <p:cNvPr id="10" name="Text 8"/>
          <p:cNvSpPr/>
          <p:nvPr/>
        </p:nvSpPr>
        <p:spPr>
          <a:xfrm>
            <a:off x="7823200" y="2863900"/>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sp>
        <p:nvSpPr>
          <p:cNvPr id="11" name="Text 9"/>
          <p:cNvSpPr/>
          <p:nvPr/>
        </p:nvSpPr>
        <p:spPr>
          <a:xfrm>
            <a:off x="7823200" y="3153420"/>
            <a:ext cx="366268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222 ED stays → 221 with triage + primary diagnosis (63 patients)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835900" y="3704580"/>
          <a:ext cx="3543300" cy="2163763"/>
        </p:xfrm>
        <a:graphic>
          <a:graphicData uri="http://schemas.openxmlformats.org/drawingml/2006/table">
            <a:tbl>
              <a:tblPr/>
              <a:tblGrid>
                <a:gridCol w="1771650"/>
                <a:gridCol w="1771650"/>
              </a:tblGrid>
              <a:tr h="289520">
                <a:tc>
                  <a:txBody>
                    <a:bodyPr/>
                    <a:lstStyle/>
                    <a:p>
                      <a:pPr indent="0" marL="0">
                        <a:lnSpc>
                          <a:spcPts val="1680"/>
                        </a:lnSpc>
                        <a:buNone/>
                      </a:pPr>
                      <a:r>
                        <a:rPr lang="en-US" sz="1200" b="1" dirty="0">
                          <a:solidFill>
                            <a:srgbClr val="17212B"/>
                          </a:solidFill>
                          <a:latin typeface="IBM Plex Sans" pitchFamily="34" charset="0"/>
                          <a:ea typeface="IBM Plex Sans" pitchFamily="34" charset="-122"/>
                          <a:cs typeface="IBM Plex Sans" pitchFamily="34" charset="-120"/>
                        </a:rPr>
                        <a:t>table</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E"/>
                    </a:solidFill>
                  </a:tcPr>
                </a:tc>
                <a:tc>
                  <a:txBody>
                    <a:bodyPr/>
                    <a:lstStyle/>
                    <a:p>
                      <a:pPr indent="0" marL="0">
                        <a:lnSpc>
                          <a:spcPts val="1680"/>
                        </a:lnSpc>
                        <a:buNone/>
                      </a:pPr>
                      <a:r>
                        <a:rPr lang="en-US" sz="1200" b="1" dirty="0">
                          <a:solidFill>
                            <a:srgbClr val="17212B"/>
                          </a:solidFill>
                          <a:latin typeface="IBM Plex Sans" pitchFamily="34" charset="0"/>
                          <a:ea typeface="IBM Plex Sans" pitchFamily="34" charset="-122"/>
                          <a:cs typeface="IBM Plex Sans" pitchFamily="34" charset="-120"/>
                        </a:rPr>
                        <a:t>used for</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E"/>
                    </a:solidFill>
                  </a:tcPr>
                </a:tc>
              </a:tr>
              <a:tr h="28952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edstays</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sex, arrival transport</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02841">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triage</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complaint, vitals, pain, acuity</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952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diagnosis</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the label (seq_num = 1)</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952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patients</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age (anchor_age)</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02841">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d_icd_diagnoses</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checking codes in step 6</a:t>
                      </a:r>
                      <a:endParaRPr lang="en-US" sz="1200" dirty="0">
                        <a:latin typeface="IBM Plex Sans" charset="0"/>
                        <a:ea typeface="IBM Plex Sans" charset="0"/>
                        <a:cs typeface="IBM Plex Sans" charset="0"/>
                      </a:endParaRPr>
                    </a:p>
                  </a:txBody>
                  <a:tcPr marL="63500" marR="63500" marT="31750" marB="317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3" name="Text 10"/>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cells 7–9</a:t>
            </a:r>
            <a:endParaRPr lang="en-US" sz="1200" dirty="0"/>
          </a:p>
        </p:txBody>
      </p:sp>
      <p:sp>
        <p:nvSpPr>
          <p:cNvPr id="14" name="Text 11"/>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LABELS (STEP 3 OF 7)</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Then group each diagnosis into one of 22 ICD-10 chapters so the task is answerable</a:t>
            </a:r>
            <a:endParaRPr lang="en-US" sz="2600" dirty="0"/>
          </a:p>
        </p:txBody>
      </p:sp>
      <p:sp>
        <p:nvSpPr>
          <p:cNvPr id="4" name="Shape 2"/>
          <p:cNvSpPr/>
          <p:nvPr/>
        </p:nvSpPr>
        <p:spPr>
          <a:xfrm>
            <a:off x="825500" y="1937941"/>
            <a:ext cx="0" cy="257175"/>
          </a:xfrm>
          <a:prstGeom prst="line">
            <a:avLst/>
          </a:prstGeom>
          <a:noFill/>
          <a:ln w="25400">
            <a:solidFill>
              <a:srgbClr val="0E6E6C"/>
            </a:solidFill>
            <a:prstDash val="solid"/>
          </a:ln>
        </p:spPr>
      </p:sp>
      <p:sp>
        <p:nvSpPr>
          <p:cNvPr id="5" name="Text 3"/>
          <p:cNvSpPr/>
          <p:nvPr/>
        </p:nvSpPr>
        <p:spPr>
          <a:xfrm>
            <a:off x="965200" y="1937941"/>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About a third of stays are coded as "Symptoms &amp; signs", which sets the baseline that any prompt has to beat</a:t>
            </a:r>
            <a:endParaRPr lang="en-US" sz="1500" dirty="0"/>
          </a:p>
        </p:txBody>
      </p:sp>
      <p:sp>
        <p:nvSpPr>
          <p:cNvPr id="6" name="Shape 4"/>
          <p:cNvSpPr/>
          <p:nvPr/>
        </p:nvSpPr>
        <p:spPr>
          <a:xfrm>
            <a:off x="812800" y="2458641"/>
            <a:ext cx="6604000" cy="0"/>
          </a:xfrm>
          <a:prstGeom prst="line">
            <a:avLst/>
          </a:prstGeom>
          <a:noFill/>
          <a:ln w="19050">
            <a:solidFill>
              <a:srgbClr val="17212B"/>
            </a:solidFill>
            <a:prstDash val="solid"/>
          </a:ln>
        </p:spPr>
      </p:sp>
      <p:sp>
        <p:nvSpPr>
          <p:cNvPr id="7" name="Text 5"/>
          <p:cNvSpPr/>
          <p:nvPr/>
        </p:nvSpPr>
        <p:spPr>
          <a:xfrm>
            <a:off x="812800" y="256976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Map each code to its chapter</a:t>
            </a:r>
            <a:endParaRPr lang="en-US" sz="1600" dirty="0"/>
          </a:p>
        </p:txBody>
      </p:sp>
      <p:sp>
        <p:nvSpPr>
          <p:cNvPr id="8" name="Text 6"/>
          <p:cNvSpPr/>
          <p:nvPr/>
        </p:nvSpPr>
        <p:spPr>
          <a:xfrm>
            <a:off x="812800" y="2889796"/>
            <a:ext cx="6802120" cy="24941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ICD10_CHAPTERS = [</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("A00", "B99", "Infectious"),</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a:t>
            </a:r>
            <a:r>
              <a:rPr lang="en-US" sz="1200" dirty="0">
                <a:solidFill>
                  <a:srgbClr val="5C6772"/>
                </a:solidFill>
                <a:latin typeface="IBM Plex Mono" pitchFamily="49" charset="0"/>
                <a:ea typeface="IBM Plex Mono" pitchFamily="49" charset="-122"/>
                <a:cs typeface="IBM Plex Mono" pitchFamily="49" charset="-120"/>
              </a:rPr>
              <a:t># ... 22 chapters in all</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("R00", "R99", "Symptoms &amp; signs"),</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("S00", "T88", "Injury &amp; poisoning"), ...]</a:t>
            </a:r>
            <a:endParaRPr lang="en-US" sz="1200" dirty="0"/>
          </a:p>
          <a:p>
            <a:pPr algn="l" indent="0" marL="0">
              <a:lnSpc>
                <a:spcPts val="1620"/>
              </a:lnSpc>
              <a:buNone/>
            </a:pP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def icd10_chapter(code):</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category = clean_code(code)[:3]</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for lo, hi, name in ICD10_CHAPTERS:</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if lo &lt;= category &lt;= hi:</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return name</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return "Unknown"</a:t>
            </a:r>
            <a:endParaRPr lang="en-US" sz="1200" dirty="0"/>
          </a:p>
        </p:txBody>
      </p:sp>
      <p:sp>
        <p:nvSpPr>
          <p:cNvPr id="9" name="Shape 7"/>
          <p:cNvSpPr/>
          <p:nvPr/>
        </p:nvSpPr>
        <p:spPr>
          <a:xfrm>
            <a:off x="7823200" y="2458641"/>
            <a:ext cx="3556000" cy="0"/>
          </a:xfrm>
          <a:prstGeom prst="line">
            <a:avLst/>
          </a:prstGeom>
          <a:noFill/>
          <a:ln w="19050">
            <a:solidFill>
              <a:srgbClr val="0E6E6C"/>
            </a:solidFill>
            <a:prstDash val="solid"/>
          </a:ln>
        </p:spPr>
      </p:sp>
      <p:sp>
        <p:nvSpPr>
          <p:cNvPr id="10" name="Text 8"/>
          <p:cNvSpPr/>
          <p:nvPr/>
        </p:nvSpPr>
        <p:spPr>
          <a:xfrm>
            <a:off x="7823200" y="2569766"/>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sp>
        <p:nvSpPr>
          <p:cNvPr id="11" name="Text 9"/>
          <p:cNvSpPr/>
          <p:nvPr/>
        </p:nvSpPr>
        <p:spPr>
          <a:xfrm>
            <a:off x="7823200" y="2859286"/>
            <a:ext cx="366268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Dropped 99 ICD-9 stays → 122 ICD-10 stays</a:t>
            </a:r>
            <a:endParaRPr lang="en-US" sz="1200" dirty="0"/>
          </a:p>
        </p:txBody>
      </p:sp>
      <p:sp>
        <p:nvSpPr>
          <p:cNvPr id="12" name="Shape 10"/>
          <p:cNvSpPr/>
          <p:nvPr/>
        </p:nvSpPr>
        <p:spPr>
          <a:xfrm>
            <a:off x="7826375" y="3350121"/>
            <a:ext cx="3549650" cy="2273300"/>
          </a:xfrm>
          <a:prstGeom prst="roundRect">
            <a:avLst>
              <a:gd name="adj" fmla="val 3212"/>
            </a:avLst>
          </a:prstGeom>
          <a:solidFill>
            <a:srgbClr val="FFFFFF"/>
          </a:solidFill>
          <a:ln w="6350">
            <a:solidFill>
              <a:srgbClr val="E2E2DE"/>
            </a:solidFill>
            <a:prstDash val="solid"/>
          </a:ln>
        </p:spPr>
      </p:sp>
      <p:pic>
        <p:nvPicPr>
          <p:cNvPr id="13" name="Image 0" descr="Notebook bar chart: primary diagnosis by ICD-10 chapter; Symptoms and signs 41 stays, Circulatory 15, Injury and poisoning 13, the rest under 10">    </p:cNvPr>
          <p:cNvPicPr>
            <a:picLocks noChangeAspect="1"/>
          </p:cNvPicPr>
          <p:nvPr/>
        </p:nvPicPr>
        <p:blipFill>
          <a:blip r:embed="rId1"/>
          <a:srcRect l="-3" r="-3" t="0" b="0"/>
          <a:stretch/>
        </p:blipFill>
        <p:spPr>
          <a:xfrm>
            <a:off x="7905750" y="3429496"/>
            <a:ext cx="3048000" cy="2114550"/>
          </a:xfrm>
          <a:prstGeom prst="rect">
            <a:avLst/>
          </a:prstGeom>
        </p:spPr>
      </p:pic>
      <p:sp>
        <p:nvSpPr>
          <p:cNvPr id="14" name="Text 11"/>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cells 11–13</a:t>
            </a:r>
            <a:endParaRPr lang="en-US" sz="1200" dirty="0"/>
          </a:p>
        </p:txBody>
      </p:sp>
      <p:sp>
        <p:nvSpPr>
          <p:cNvPr id="15" name="Text 12"/>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PROMPT (STEP 4 OF 7)</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Each triage row becomes a short text summary that the model can read rather than a dataframe</a:t>
            </a:r>
            <a:endParaRPr lang="en-US" sz="2600" dirty="0"/>
          </a:p>
        </p:txBody>
      </p:sp>
      <p:sp>
        <p:nvSpPr>
          <p:cNvPr id="4" name="Shape 2"/>
          <p:cNvSpPr/>
          <p:nvPr/>
        </p:nvSpPr>
        <p:spPr>
          <a:xfrm>
            <a:off x="825500" y="1937941"/>
            <a:ext cx="0" cy="257175"/>
          </a:xfrm>
          <a:prstGeom prst="line">
            <a:avLst/>
          </a:prstGeom>
          <a:noFill/>
          <a:ln w="25400">
            <a:solidFill>
              <a:srgbClr val="0E6E6C"/>
            </a:solidFill>
            <a:prstDash val="solid"/>
          </a:ln>
        </p:spPr>
      </p:sp>
      <p:sp>
        <p:nvSpPr>
          <p:cNvPr id="5" name="Text 3"/>
          <p:cNvSpPr/>
          <p:nvPr/>
        </p:nvSpPr>
        <p:spPr>
          <a:xfrm>
            <a:off x="965200" y="1937941"/>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Missing values are written as "not recorded" instead of "nan" so that blanks don't confuse the model</a:t>
            </a:r>
            <a:endParaRPr lang="en-US" sz="1500" dirty="0"/>
          </a:p>
        </p:txBody>
      </p:sp>
      <p:sp>
        <p:nvSpPr>
          <p:cNvPr id="6" name="Shape 4"/>
          <p:cNvSpPr/>
          <p:nvPr/>
        </p:nvSpPr>
        <p:spPr>
          <a:xfrm>
            <a:off x="812800" y="2458641"/>
            <a:ext cx="6604000" cy="0"/>
          </a:xfrm>
          <a:prstGeom prst="line">
            <a:avLst/>
          </a:prstGeom>
          <a:noFill/>
          <a:ln w="19050">
            <a:solidFill>
              <a:srgbClr val="17212B"/>
            </a:solidFill>
            <a:prstDash val="solid"/>
          </a:ln>
        </p:spPr>
      </p:sp>
      <p:sp>
        <p:nvSpPr>
          <p:cNvPr id="7" name="Text 5"/>
          <p:cNvSpPr/>
          <p:nvPr/>
        </p:nvSpPr>
        <p:spPr>
          <a:xfrm>
            <a:off x="812800" y="256976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Turn a row into text</a:t>
            </a:r>
            <a:endParaRPr lang="en-US" sz="1600" dirty="0"/>
          </a:p>
        </p:txBody>
      </p:sp>
      <p:sp>
        <p:nvSpPr>
          <p:cNvPr id="8" name="Text 6"/>
          <p:cNvSpPr/>
          <p:nvPr/>
        </p:nvSpPr>
        <p:spPr>
          <a:xfrm>
            <a:off x="812800" y="2864396"/>
            <a:ext cx="6802120" cy="279866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def show(x, unit=""):</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return "not recorded" if pd.isna(x) else f"{x}{unit}"</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def make_prompt(row) -&gt; str:</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sex = {"M": "male", "F": "female"}.get(row.gender,</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"sex not recorded")</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return (f"Age {row.anchor_age}, {sex}. "</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f"Arrived by {show(row.arrival_transport).lower()}.\n"</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f'Chief complaint: "{show(row.chiefcomplaint)}"\n'</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f"Triage vitals: T {show(row.temperature, '°F')}, "</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f"HR {show(row.heartrate)}, RR {show(row.resprate)}, "</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f"SpO2 {show(row.o2sat, '%')}, "</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f"BP {show(row.sbp)}/{show(row.dbp)}. "</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f"Pain {show(row.pain)}/10. "</a:t>
            </a:r>
            <a:endParaRPr lang="en-US" sz="1200" dirty="0"/>
          </a:p>
          <a:p>
            <a:pPr algn="l" indent="0" marL="0">
              <a:lnSpc>
                <a:spcPts val="1560"/>
              </a:lnSpc>
              <a:buNone/>
            </a:pPr>
            <a:r>
              <a:rPr lang="en-US" sz="1200" dirty="0">
                <a:solidFill>
                  <a:srgbClr val="17212B"/>
                </a:solidFill>
                <a:latin typeface="IBM Plex Mono" pitchFamily="49" charset="0"/>
                <a:ea typeface="IBM Plex Mono" pitchFamily="49" charset="-122"/>
                <a:cs typeface="IBM Plex Mono" pitchFamily="49" charset="-120"/>
              </a:rPr>
              <a:t>            f"ESI acuity {show(row.acuity)}.")</a:t>
            </a:r>
            <a:endParaRPr lang="en-US" sz="1200" dirty="0"/>
          </a:p>
        </p:txBody>
      </p:sp>
      <p:sp>
        <p:nvSpPr>
          <p:cNvPr id="9" name="Shape 7"/>
          <p:cNvSpPr/>
          <p:nvPr/>
        </p:nvSpPr>
        <p:spPr>
          <a:xfrm>
            <a:off x="7823200" y="2458641"/>
            <a:ext cx="3556000" cy="0"/>
          </a:xfrm>
          <a:prstGeom prst="line">
            <a:avLst/>
          </a:prstGeom>
          <a:noFill/>
          <a:ln w="19050">
            <a:solidFill>
              <a:srgbClr val="0E6E6C"/>
            </a:solidFill>
            <a:prstDash val="solid"/>
          </a:ln>
        </p:spPr>
      </p:sp>
      <p:sp>
        <p:nvSpPr>
          <p:cNvPr id="10" name="Text 8"/>
          <p:cNvSpPr/>
          <p:nvPr/>
        </p:nvSpPr>
        <p:spPr>
          <a:xfrm>
            <a:off x="7823200" y="2569766"/>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sp>
        <p:nvSpPr>
          <p:cNvPr id="11" name="Text 9"/>
          <p:cNvSpPr/>
          <p:nvPr/>
        </p:nvSpPr>
        <p:spPr>
          <a:xfrm>
            <a:off x="7823200" y="2859286"/>
            <a:ext cx="366268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Age 83, female. Arrived by ambulance.</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Chief complaint: "Syncope, Transfer"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Triage vitals: T 97.7°F, HR 74.0, RR 20.0, SpO2 96.0%, BP 133.0/65.0. Pain 3/10. ESI acuity 2.0.</a:t>
            </a:r>
            <a:endParaRPr lang="en-US" sz="1200" dirty="0"/>
          </a:p>
        </p:txBody>
      </p:sp>
      <p:sp>
        <p:nvSpPr>
          <p:cNvPr id="12" name="Text 10"/>
          <p:cNvSpPr/>
          <p:nvPr/>
        </p:nvSpPr>
        <p:spPr>
          <a:xfrm>
            <a:off x="7823200" y="4014936"/>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The test cell after it should print "prompt tests pass".</a:t>
            </a:r>
            <a:endParaRPr lang="en-US" sz="1300" dirty="0"/>
          </a:p>
        </p:txBody>
      </p:sp>
      <p:sp>
        <p:nvSpPr>
          <p:cNvPr id="13" name="Text 11"/>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cells 15–16</a:t>
            </a:r>
            <a:endParaRPr lang="en-US" sz="1200" dirty="0"/>
          </a:p>
        </p:txBody>
      </p:sp>
      <p:sp>
        <p:nvSpPr>
          <p:cNvPr id="14" name="Text 12"/>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ASK THE MODEL (STEP 5 OF 7)</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Before running it, here is how the three prompting techniques differ</a:t>
            </a:r>
            <a:endParaRPr lang="en-US" sz="2600" dirty="0"/>
          </a:p>
        </p:txBody>
      </p:sp>
      <p:sp>
        <p:nvSpPr>
          <p:cNvPr id="4" name="Shape 2"/>
          <p:cNvSpPr/>
          <p:nvPr/>
        </p:nvSpPr>
        <p:spPr>
          <a:xfrm>
            <a:off x="825500" y="1937941"/>
            <a:ext cx="0" cy="257175"/>
          </a:xfrm>
          <a:prstGeom prst="line">
            <a:avLst/>
          </a:prstGeom>
          <a:noFill/>
          <a:ln w="25400">
            <a:solidFill>
              <a:srgbClr val="0E6E6C"/>
            </a:solidFill>
            <a:prstDash val="solid"/>
          </a:ln>
        </p:spPr>
      </p:sp>
      <p:sp>
        <p:nvSpPr>
          <p:cNvPr id="5" name="Text 3"/>
          <p:cNvSpPr/>
          <p:nvPr/>
        </p:nvSpPr>
        <p:spPr>
          <a:xfrm>
            <a:off x="965200" y="1937941"/>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Each technique changes only what the model sees before the question, so their scores can be compared directly</a:t>
            </a:r>
            <a:endParaRPr lang="en-US" sz="1500" dirty="0"/>
          </a:p>
        </p:txBody>
      </p:sp>
      <p:sp>
        <p:nvSpPr>
          <p:cNvPr id="6" name="Shape 4"/>
          <p:cNvSpPr/>
          <p:nvPr/>
        </p:nvSpPr>
        <p:spPr>
          <a:xfrm>
            <a:off x="812800" y="2560241"/>
            <a:ext cx="3318917" cy="0"/>
          </a:xfrm>
          <a:prstGeom prst="line">
            <a:avLst/>
          </a:prstGeom>
          <a:noFill/>
          <a:ln w="19050">
            <a:solidFill>
              <a:srgbClr val="17212B"/>
            </a:solidFill>
            <a:prstDash val="solid"/>
          </a:ln>
        </p:spPr>
      </p:sp>
      <p:sp>
        <p:nvSpPr>
          <p:cNvPr id="7" name="Text 5"/>
          <p:cNvSpPr/>
          <p:nvPr/>
        </p:nvSpPr>
        <p:spPr>
          <a:xfrm>
            <a:off x="812800" y="2671366"/>
            <a:ext cx="3418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Zero-shot</a:t>
            </a:r>
            <a:endParaRPr lang="en-US" sz="1600" dirty="0"/>
          </a:p>
        </p:txBody>
      </p:sp>
      <p:sp>
        <p:nvSpPr>
          <p:cNvPr id="8" name="Text 6"/>
          <p:cNvSpPr/>
          <p:nvPr/>
        </p:nvSpPr>
        <p:spPr>
          <a:xfrm>
            <a:off x="812800" y="2991396"/>
            <a:ext cx="3418484"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7212B"/>
                </a:solidFill>
                <a:latin typeface="IBM Plex Sans" pitchFamily="34" charset="0"/>
                <a:ea typeface="IBM Plex Sans" pitchFamily="34" charset="-122"/>
                <a:cs typeface="IBM Plex Sans" pitchFamily="34" charset="-120"/>
              </a:rPr>
              <a:t>The model gets the instruction and the triage summary and nothing else.</a:t>
            </a:r>
            <a:endParaRPr lang="en-US" sz="1300" dirty="0"/>
          </a:p>
        </p:txBody>
      </p:sp>
      <p:sp>
        <p:nvSpPr>
          <p:cNvPr id="9" name="Text 7"/>
          <p:cNvSpPr/>
          <p:nvPr/>
        </p:nvSpPr>
        <p:spPr>
          <a:xfrm>
            <a:off x="812800" y="3546326"/>
            <a:ext cx="3418484"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A4651"/>
                </a:solidFill>
                <a:latin typeface="IBM Plex Sans" pitchFamily="34" charset="0"/>
                <a:ea typeface="IBM Plex Sans" pitchFamily="34" charset="-122"/>
                <a:cs typeface="IBM Plex Sans" pitchFamily="34" charset="-120"/>
              </a:rPr>
              <a:t>This is the baseline, because it shows what the model knows on its own.</a:t>
            </a:r>
            <a:endParaRPr lang="en-US" sz="1300" dirty="0"/>
          </a:p>
        </p:txBody>
      </p:sp>
      <p:sp>
        <p:nvSpPr>
          <p:cNvPr id="10" name="Shape 8"/>
          <p:cNvSpPr/>
          <p:nvPr/>
        </p:nvSpPr>
        <p:spPr>
          <a:xfrm>
            <a:off x="4436517" y="2560241"/>
            <a:ext cx="3318966" cy="0"/>
          </a:xfrm>
          <a:prstGeom prst="line">
            <a:avLst/>
          </a:prstGeom>
          <a:noFill/>
          <a:ln w="19050">
            <a:solidFill>
              <a:srgbClr val="17212B"/>
            </a:solidFill>
            <a:prstDash val="solid"/>
          </a:ln>
        </p:spPr>
      </p:sp>
      <p:sp>
        <p:nvSpPr>
          <p:cNvPr id="11" name="Text 9"/>
          <p:cNvSpPr/>
          <p:nvPr/>
        </p:nvSpPr>
        <p:spPr>
          <a:xfrm>
            <a:off x="4436517" y="2671366"/>
            <a:ext cx="34185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Few-shot</a:t>
            </a:r>
            <a:endParaRPr lang="en-US" sz="1600" dirty="0"/>
          </a:p>
        </p:txBody>
      </p:sp>
      <p:sp>
        <p:nvSpPr>
          <p:cNvPr id="12" name="Text 10"/>
          <p:cNvSpPr/>
          <p:nvPr/>
        </p:nvSpPr>
        <p:spPr>
          <a:xfrm>
            <a:off x="4436517" y="2991396"/>
            <a:ext cx="3418535"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7212B"/>
                </a:solidFill>
                <a:latin typeface="IBM Plex Sans" pitchFamily="34" charset="0"/>
                <a:ea typeface="IBM Plex Sans" pitchFamily="34" charset="-122"/>
                <a:cs typeface="IBM Plex Sans" pitchFamily="34" charset="-120"/>
              </a:rPr>
              <a:t>The model first sees three solved stays as earlier turns in the chat, and then the new stay.</a:t>
            </a:r>
            <a:endParaRPr lang="en-US" sz="1300" dirty="0"/>
          </a:p>
        </p:txBody>
      </p:sp>
      <p:sp>
        <p:nvSpPr>
          <p:cNvPr id="13" name="Text 11"/>
          <p:cNvSpPr/>
          <p:nvPr/>
        </p:nvSpPr>
        <p:spPr>
          <a:xfrm>
            <a:off x="4436517" y="3785691"/>
            <a:ext cx="3418535"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A4651"/>
                </a:solidFill>
                <a:latin typeface="IBM Plex Sans" pitchFamily="34" charset="0"/>
                <a:ea typeface="IBM Plex Sans" pitchFamily="34" charset="-122"/>
                <a:cs typeface="IBM Plex Sans" pitchFamily="34" charset="-120"/>
              </a:rPr>
              <a:t>The examples show it the answer format and the kind of diagnosis the ED records.</a:t>
            </a:r>
            <a:endParaRPr lang="en-US" sz="1300" dirty="0"/>
          </a:p>
        </p:txBody>
      </p:sp>
      <p:sp>
        <p:nvSpPr>
          <p:cNvPr id="14" name="Shape 12"/>
          <p:cNvSpPr/>
          <p:nvPr/>
        </p:nvSpPr>
        <p:spPr>
          <a:xfrm>
            <a:off x="8060283" y="2560241"/>
            <a:ext cx="3318917" cy="0"/>
          </a:xfrm>
          <a:prstGeom prst="line">
            <a:avLst/>
          </a:prstGeom>
          <a:noFill/>
          <a:ln w="19050">
            <a:solidFill>
              <a:srgbClr val="17212B"/>
            </a:solidFill>
            <a:prstDash val="solid"/>
          </a:ln>
        </p:spPr>
      </p:sp>
      <p:sp>
        <p:nvSpPr>
          <p:cNvPr id="15" name="Text 13"/>
          <p:cNvSpPr/>
          <p:nvPr/>
        </p:nvSpPr>
        <p:spPr>
          <a:xfrm>
            <a:off x="8060283" y="2671366"/>
            <a:ext cx="3418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Chain-of-thought</a:t>
            </a:r>
            <a:endParaRPr lang="en-US" sz="1600" dirty="0"/>
          </a:p>
        </p:txBody>
      </p:sp>
      <p:sp>
        <p:nvSpPr>
          <p:cNvPr id="16" name="Text 14"/>
          <p:cNvSpPr/>
          <p:nvPr/>
        </p:nvSpPr>
        <p:spPr>
          <a:xfrm>
            <a:off x="8060283" y="2991396"/>
            <a:ext cx="341848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7212B"/>
                </a:solidFill>
                <a:latin typeface="IBM Plex Sans" pitchFamily="34" charset="0"/>
                <a:ea typeface="IBM Plex Sans" pitchFamily="34" charset="-122"/>
                <a:cs typeface="IBM Plex Sans" pitchFamily="34" charset="-120"/>
              </a:rPr>
              <a:t>This is zero-shot with an added "think step by step", and the model writes its reasoning before its answer.</a:t>
            </a:r>
            <a:endParaRPr lang="en-US" sz="1300" dirty="0"/>
          </a:p>
        </p:txBody>
      </p:sp>
      <p:sp>
        <p:nvSpPr>
          <p:cNvPr id="17" name="Text 15"/>
          <p:cNvSpPr/>
          <p:nvPr/>
        </p:nvSpPr>
        <p:spPr>
          <a:xfrm>
            <a:off x="8060283" y="3785691"/>
            <a:ext cx="3418484"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A4651"/>
                </a:solidFill>
                <a:latin typeface="IBM Plex Sans" pitchFamily="34" charset="0"/>
                <a:ea typeface="IBM Plex Sans" pitchFamily="34" charset="-122"/>
                <a:cs typeface="IBM Plex Sans" pitchFamily="34" charset="-120"/>
              </a:rPr>
              <a:t>Reasoning first can help large models work through a problem, but it also takes longer.</a:t>
            </a:r>
            <a:endParaRPr lang="en-US" sz="1300" dirty="0"/>
          </a:p>
        </p:txBody>
      </p:sp>
      <p:sp>
        <p:nvSpPr>
          <p:cNvPr id="18" name="Text 16"/>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ASK THE MODEL (STEP 5 OF 7)</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Few-shot examples are picked by a fixed rule, and their patients are kept out of scoring</a:t>
            </a:r>
            <a:endParaRPr lang="en-US" sz="2600" dirty="0"/>
          </a:p>
        </p:txBody>
      </p:sp>
      <p:sp>
        <p:nvSpPr>
          <p:cNvPr id="4" name="Shape 2"/>
          <p:cNvSpPr/>
          <p:nvPr/>
        </p:nvSpPr>
        <p:spPr>
          <a:xfrm>
            <a:off x="825500" y="1937941"/>
            <a:ext cx="0" cy="257175"/>
          </a:xfrm>
          <a:prstGeom prst="line">
            <a:avLst/>
          </a:prstGeom>
          <a:noFill/>
          <a:ln w="25400">
            <a:solidFill>
              <a:srgbClr val="0E6E6C"/>
            </a:solidFill>
            <a:prstDash val="solid"/>
          </a:ln>
        </p:spPr>
      </p:sp>
      <p:sp>
        <p:nvSpPr>
          <p:cNvPr id="5" name="Text 3"/>
          <p:cNvSpPr/>
          <p:nvPr/>
        </p:nvSpPr>
        <p:spPr>
          <a:xfrm>
            <a:off x="965200" y="1937941"/>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This keeps the comparison fair, because the model is never scored on a patient it has already been shown</a:t>
            </a:r>
            <a:endParaRPr lang="en-US" sz="1500" dirty="0"/>
          </a:p>
        </p:txBody>
      </p:sp>
      <p:sp>
        <p:nvSpPr>
          <p:cNvPr id="6" name="Shape 4"/>
          <p:cNvSpPr/>
          <p:nvPr/>
        </p:nvSpPr>
        <p:spPr>
          <a:xfrm>
            <a:off x="812800" y="2458641"/>
            <a:ext cx="6604000" cy="0"/>
          </a:xfrm>
          <a:prstGeom prst="line">
            <a:avLst/>
          </a:prstGeom>
          <a:noFill/>
          <a:ln w="19050">
            <a:solidFill>
              <a:srgbClr val="17212B"/>
            </a:solidFill>
            <a:prstDash val="solid"/>
          </a:ln>
        </p:spPr>
      </p:sp>
      <p:sp>
        <p:nvSpPr>
          <p:cNvPr id="7" name="Text 5"/>
          <p:cNvSpPr/>
          <p:nvPr/>
        </p:nvSpPr>
        <p:spPr>
          <a:xfrm>
            <a:off x="812800" y="256976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Pick the examples and the evaluation set</a:t>
            </a:r>
            <a:endParaRPr lang="en-US" sz="1600" dirty="0"/>
          </a:p>
        </p:txBody>
      </p:sp>
      <p:sp>
        <p:nvSpPr>
          <p:cNvPr id="8" name="Text 6"/>
          <p:cNvSpPr/>
          <p:nvPr/>
        </p:nvSpPr>
        <p:spPr>
          <a:xfrm>
            <a:off x="812800" y="2889796"/>
            <a:ext cx="6802120" cy="228843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top3 = cohort.true_chapter.value_counts().index[:3]</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examples = (cohort[cohort.true_chapter.isin(top3)]</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.sort_values("stay_id").groupby("true_chapter").head(1))</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eval_df = cohort[~cohort.subject_id.isin(examples.subject_id)]</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eval_df = eval_df.sample(n=min(N_CASES, len(eval_df)),</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random_state=SEED)</a:t>
            </a:r>
            <a:endParaRPr lang="en-US" sz="1200" dirty="0"/>
          </a:p>
          <a:p>
            <a:pPr algn="l" indent="0" marL="0">
              <a:lnSpc>
                <a:spcPts val="1620"/>
              </a:lnSpc>
              <a:buNone/>
            </a:pP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print(examples[["stay_id", "chiefcomplaint",</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"icd_code", "true_chapter"]])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print(f"Evaluating on {len(eval_df)} stays from "</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f"{eval_df.subject_id.nunique()} patients")</a:t>
            </a:r>
            <a:endParaRPr lang="en-US" sz="1200" dirty="0"/>
          </a:p>
        </p:txBody>
      </p:sp>
      <p:sp>
        <p:nvSpPr>
          <p:cNvPr id="9" name="Shape 7"/>
          <p:cNvSpPr/>
          <p:nvPr/>
        </p:nvSpPr>
        <p:spPr>
          <a:xfrm>
            <a:off x="7823200" y="2458641"/>
            <a:ext cx="3556000" cy="0"/>
          </a:xfrm>
          <a:prstGeom prst="line">
            <a:avLst/>
          </a:prstGeom>
          <a:noFill/>
          <a:ln w="19050">
            <a:solidFill>
              <a:srgbClr val="0E6E6C"/>
            </a:solidFill>
            <a:prstDash val="solid"/>
          </a:ln>
        </p:spPr>
      </p:sp>
      <p:sp>
        <p:nvSpPr>
          <p:cNvPr id="10" name="Text 8"/>
          <p:cNvSpPr/>
          <p:nvPr/>
        </p:nvSpPr>
        <p:spPr>
          <a:xfrm>
            <a:off x="7823200" y="2569766"/>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sp>
        <p:nvSpPr>
          <p:cNvPr id="11" name="Text 9"/>
          <p:cNvSpPr/>
          <p:nvPr/>
        </p:nvSpPr>
        <p:spPr>
          <a:xfrm>
            <a:off x="7823200" y="2859286"/>
            <a:ext cx="3662680" cy="12597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Fatigue, s/p Fall    R531</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MVC/INTUBATED TRAUMA S066X9A</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Transfer             I313</a:t>
            </a:r>
            <a:endParaRPr lang="en-US" sz="1200" dirty="0"/>
          </a:p>
          <a:p>
            <a:pPr algn="l" indent="0" marL="0">
              <a:lnSpc>
                <a:spcPts val="1620"/>
              </a:lnSpc>
              <a:buNone/>
            </a:pP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Evaluating on 94 stays</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from 29 patients</a:t>
            </a:r>
            <a:endParaRPr lang="en-US" sz="1200" dirty="0"/>
          </a:p>
        </p:txBody>
      </p:sp>
      <p:sp>
        <p:nvSpPr>
          <p:cNvPr id="12" name="Text 10"/>
          <p:cNvSpPr/>
          <p:nvPr/>
        </p:nvSpPr>
        <p:spPr>
          <a:xfrm>
            <a:off x="7823200" y="4220666"/>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The three examples come from the Symptoms, Injury and Circulatory chapters.</a:t>
            </a:r>
            <a:endParaRPr lang="en-US" sz="1300" dirty="0"/>
          </a:p>
        </p:txBody>
      </p:sp>
      <p:sp>
        <p:nvSpPr>
          <p:cNvPr id="13" name="Text 11"/>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 19</a:t>
            </a:r>
            <a:endParaRPr lang="en-US" sz="1200" dirty="0"/>
          </a:p>
        </p:txBody>
      </p:sp>
      <p:sp>
        <p:nvSpPr>
          <p:cNvPr id="14" name="Text 12"/>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ASK THE MODEL (STEP 5 OF 7)</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One function builds every prompt, so the only difference between techniques is the messages it adds</a:t>
            </a:r>
            <a:endParaRPr lang="en-US" sz="2600" dirty="0"/>
          </a:p>
        </p:txBody>
      </p:sp>
      <p:sp>
        <p:nvSpPr>
          <p:cNvPr id="4" name="Shape 2"/>
          <p:cNvSpPr/>
          <p:nvPr/>
        </p:nvSpPr>
        <p:spPr>
          <a:xfrm>
            <a:off x="825500" y="1937941"/>
            <a:ext cx="0" cy="514350"/>
          </a:xfrm>
          <a:prstGeom prst="line">
            <a:avLst/>
          </a:prstGeom>
          <a:noFill/>
          <a:ln w="25400">
            <a:solidFill>
              <a:srgbClr val="0E6E6C"/>
            </a:solidFill>
            <a:prstDash val="solid"/>
          </a:ln>
        </p:spPr>
      </p:sp>
      <p:sp>
        <p:nvSpPr>
          <p:cNvPr id="5" name="Text 3"/>
          <p:cNvSpPr/>
          <p:nvPr/>
        </p:nvSpPr>
        <p:spPr>
          <a:xfrm>
            <a:off x="965200" y="1937941"/>
            <a:ext cx="1030782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Few-shot adds three solved examples as earlier chat turns, chain-of-thought adds one sentence and zero-shot adds nothing</a:t>
            </a:r>
            <a:endParaRPr lang="en-US" sz="1500" dirty="0"/>
          </a:p>
        </p:txBody>
      </p:sp>
      <p:sp>
        <p:nvSpPr>
          <p:cNvPr id="6" name="Shape 4"/>
          <p:cNvSpPr/>
          <p:nvPr/>
        </p:nvSpPr>
        <p:spPr>
          <a:xfrm>
            <a:off x="812800" y="2715816"/>
            <a:ext cx="6604000" cy="0"/>
          </a:xfrm>
          <a:prstGeom prst="line">
            <a:avLst/>
          </a:prstGeom>
          <a:noFill/>
          <a:ln w="19050">
            <a:solidFill>
              <a:srgbClr val="17212B"/>
            </a:solidFill>
            <a:prstDash val="solid"/>
          </a:ln>
        </p:spPr>
      </p:sp>
      <p:sp>
        <p:nvSpPr>
          <p:cNvPr id="7" name="Text 5"/>
          <p:cNvSpPr/>
          <p:nvPr/>
        </p:nvSpPr>
        <p:spPr>
          <a:xfrm>
            <a:off x="812800" y="2826941"/>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Build the messages</a:t>
            </a:r>
            <a:endParaRPr lang="en-US" sz="1600" dirty="0"/>
          </a:p>
        </p:txBody>
      </p:sp>
      <p:sp>
        <p:nvSpPr>
          <p:cNvPr id="8" name="Text 6"/>
          <p:cNvSpPr/>
          <p:nvPr/>
        </p:nvSpPr>
        <p:spPr>
          <a:xfrm>
            <a:off x="812800" y="3146971"/>
            <a:ext cx="6802120" cy="228843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def build_messages(row, technique: str) -&gt; list[dict]:</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msgs = [{"role": "system", "content": SYSTEM}]</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if technique == "few_shot":</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for _, ex in examples.iterrows():</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msgs.append({"role": "user", "content": make_prompt(ex)})</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msgs.append({"role": "assistant", "content":</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Answer(diagnosis=ex.icd_title,</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icd10=ex.icd_code).model_dump_json()})</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user = make_prompt(row) + (COT_HINT if technique == "cot" else "")</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msgs.append({"role": "user", "content": user})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return msgs</a:t>
            </a:r>
            <a:endParaRPr lang="en-US" sz="1200" dirty="0"/>
          </a:p>
        </p:txBody>
      </p:sp>
      <p:sp>
        <p:nvSpPr>
          <p:cNvPr id="9" name="Shape 7"/>
          <p:cNvSpPr/>
          <p:nvPr/>
        </p:nvSpPr>
        <p:spPr>
          <a:xfrm>
            <a:off x="7823200" y="2715816"/>
            <a:ext cx="3556000" cy="0"/>
          </a:xfrm>
          <a:prstGeom prst="line">
            <a:avLst/>
          </a:prstGeom>
          <a:noFill/>
          <a:ln w="19050">
            <a:solidFill>
              <a:srgbClr val="0E6E6C"/>
            </a:solidFill>
            <a:prstDash val="solid"/>
          </a:ln>
        </p:spPr>
      </p:sp>
      <p:sp>
        <p:nvSpPr>
          <p:cNvPr id="10" name="Text 8"/>
          <p:cNvSpPr/>
          <p:nvPr/>
        </p:nvSpPr>
        <p:spPr>
          <a:xfrm>
            <a:off x="7823200" y="2826941"/>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sp>
        <p:nvSpPr>
          <p:cNvPr id="11" name="Text 9"/>
          <p:cNvSpPr/>
          <p:nvPr/>
        </p:nvSpPr>
        <p:spPr>
          <a:xfrm>
            <a:off x="7823200" y="3116461"/>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Printing the roles of one few-shot prompt gives eight messages.</a:t>
            </a:r>
            <a:endParaRPr lang="en-US" sz="1300" dirty="0"/>
          </a:p>
        </p:txBody>
      </p:sp>
      <p:sp>
        <p:nvSpPr>
          <p:cNvPr id="12" name="Text 10"/>
          <p:cNvSpPr/>
          <p:nvPr/>
        </p:nvSpPr>
        <p:spPr>
          <a:xfrm>
            <a:off x="7823200" y="3654921"/>
            <a:ext cx="366268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system</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user, assistant  </a:t>
            </a:r>
            <a:r>
              <a:rPr lang="en-US" sz="1200" dirty="0">
                <a:solidFill>
                  <a:srgbClr val="5C6772"/>
                </a:solidFill>
                <a:latin typeface="IBM Plex Mono" pitchFamily="49" charset="0"/>
                <a:ea typeface="IBM Plex Mono" pitchFamily="49" charset="-122"/>
                <a:cs typeface="IBM Plex Mono" pitchFamily="49" charset="-120"/>
              </a:rPr>
              <a:t># example 1</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user, assistant  </a:t>
            </a:r>
            <a:r>
              <a:rPr lang="en-US" sz="1200" dirty="0">
                <a:solidFill>
                  <a:srgbClr val="5C6772"/>
                </a:solidFill>
                <a:latin typeface="IBM Plex Mono" pitchFamily="49" charset="0"/>
                <a:ea typeface="IBM Plex Mono" pitchFamily="49" charset="-122"/>
                <a:cs typeface="IBM Plex Mono" pitchFamily="49" charset="-120"/>
              </a:rPr>
              <a:t># example 2</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user, assistant  </a:t>
            </a:r>
            <a:r>
              <a:rPr lang="en-US" sz="1200" dirty="0">
                <a:solidFill>
                  <a:srgbClr val="5C6772"/>
                </a:solidFill>
                <a:latin typeface="IBM Plex Mono" pitchFamily="49" charset="0"/>
                <a:ea typeface="IBM Plex Mono" pitchFamily="49" charset="-122"/>
                <a:cs typeface="IBM Plex Mono" pitchFamily="49" charset="-120"/>
              </a:rPr>
              <a:t># example 3</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user             </a:t>
            </a:r>
            <a:r>
              <a:rPr lang="en-US" sz="1200" dirty="0">
                <a:solidFill>
                  <a:srgbClr val="5C6772"/>
                </a:solidFill>
                <a:latin typeface="IBM Plex Mono" pitchFamily="49" charset="0"/>
                <a:ea typeface="IBM Plex Mono" pitchFamily="49" charset="-122"/>
                <a:cs typeface="IBM Plex Mono" pitchFamily="49" charset="-120"/>
              </a:rPr>
              <a:t># the new stay</a:t>
            </a:r>
            <a:endParaRPr lang="en-US" sz="1200" dirty="0"/>
          </a:p>
        </p:txBody>
      </p:sp>
      <p:sp>
        <p:nvSpPr>
          <p:cNvPr id="13" name="Text 11"/>
          <p:cNvSpPr/>
          <p:nvPr/>
        </p:nvSpPr>
        <p:spPr>
          <a:xfrm>
            <a:off x="7823200" y="4810571"/>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Zero-shot and chain-of-thought prompts have only two, the system message and the new stay.</a:t>
            </a:r>
            <a:endParaRPr lang="en-US" sz="1300" dirty="0"/>
          </a:p>
        </p:txBody>
      </p:sp>
      <p:sp>
        <p:nvSpPr>
          <p:cNvPr id="14" name="Text 12"/>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 18</a:t>
            </a:r>
            <a:endParaRPr lang="en-US" sz="1200" dirty="0"/>
          </a:p>
        </p:txBody>
      </p:sp>
      <p:sp>
        <p:nvSpPr>
          <p:cNvPr id="15" name="Text 1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ASK THE MODEL (STEP 5 OF 7)</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One function sends each prompt to Ollama and checks the answer against a Pydantic schema</a:t>
            </a:r>
            <a:endParaRPr lang="en-US" sz="2600" dirty="0"/>
          </a:p>
        </p:txBody>
      </p:sp>
      <p:sp>
        <p:nvSpPr>
          <p:cNvPr id="4" name="Shape 2"/>
          <p:cNvSpPr/>
          <p:nvPr/>
        </p:nvSpPr>
        <p:spPr>
          <a:xfrm>
            <a:off x="825500" y="1937941"/>
            <a:ext cx="0" cy="257175"/>
          </a:xfrm>
          <a:prstGeom prst="line">
            <a:avLst/>
          </a:prstGeom>
          <a:noFill/>
          <a:ln w="25400">
            <a:solidFill>
              <a:srgbClr val="0E6E6C"/>
            </a:solidFill>
            <a:prstDash val="solid"/>
          </a:ln>
        </p:spPr>
      </p:sp>
      <p:sp>
        <p:nvSpPr>
          <p:cNvPr id="5" name="Text 3"/>
          <p:cNvSpPr/>
          <p:nvPr/>
        </p:nvSpPr>
        <p:spPr>
          <a:xfrm>
            <a:off x="965200" y="1937941"/>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Passing the schema to format= makes the model return JSON, and any answer that fails to parse is counted as wrong</a:t>
            </a:r>
            <a:endParaRPr lang="en-US" sz="1500" dirty="0"/>
          </a:p>
        </p:txBody>
      </p:sp>
      <p:sp>
        <p:nvSpPr>
          <p:cNvPr id="6" name="Shape 4"/>
          <p:cNvSpPr/>
          <p:nvPr/>
        </p:nvSpPr>
        <p:spPr>
          <a:xfrm>
            <a:off x="812800" y="2458641"/>
            <a:ext cx="6604000" cy="0"/>
          </a:xfrm>
          <a:prstGeom prst="line">
            <a:avLst/>
          </a:prstGeom>
          <a:noFill/>
          <a:ln w="19050">
            <a:solidFill>
              <a:srgbClr val="17212B"/>
            </a:solidFill>
            <a:prstDash val="solid"/>
          </a:ln>
        </p:spPr>
      </p:sp>
      <p:sp>
        <p:nvSpPr>
          <p:cNvPr id="7" name="Text 5"/>
          <p:cNvSpPr/>
          <p:nvPr/>
        </p:nvSpPr>
        <p:spPr>
          <a:xfrm>
            <a:off x="812800" y="256976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Ask and validate</a:t>
            </a:r>
            <a:endParaRPr lang="en-US" sz="1600" dirty="0"/>
          </a:p>
        </p:txBody>
      </p:sp>
      <p:sp>
        <p:nvSpPr>
          <p:cNvPr id="8" name="Text 6"/>
          <p:cNvSpPr/>
          <p:nvPr/>
        </p:nvSpPr>
        <p:spPr>
          <a:xfrm>
            <a:off x="812800" y="2889796"/>
            <a:ext cx="6802120" cy="269989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def ask(row, technique: str):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schema = AnswerCoT if technique == "cot" else Answer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resp = ollama.chat(model=MODEL,</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messages=build_messages(row, technique),</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format=schema.model_json_schema(),</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options={"temperature": 0, "seed": SEED,</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"num_predict": 512})</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try:</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a = schema.model_validate_json(resp.message.content)</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return (a.diagnosis, a.icd10,</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getattr(a, "reasoning", None), True)</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except ValidationError: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return None, None, None, False</a:t>
            </a:r>
            <a:endParaRPr lang="en-US" sz="1200" dirty="0"/>
          </a:p>
        </p:txBody>
      </p:sp>
      <p:sp>
        <p:nvSpPr>
          <p:cNvPr id="9" name="Shape 7"/>
          <p:cNvSpPr/>
          <p:nvPr/>
        </p:nvSpPr>
        <p:spPr>
          <a:xfrm>
            <a:off x="7823200" y="2458641"/>
            <a:ext cx="3556000" cy="0"/>
          </a:xfrm>
          <a:prstGeom prst="line">
            <a:avLst/>
          </a:prstGeom>
          <a:noFill/>
          <a:ln w="19050">
            <a:solidFill>
              <a:srgbClr val="0E6E6C"/>
            </a:solidFill>
            <a:prstDash val="solid"/>
          </a:ln>
        </p:spPr>
      </p:sp>
      <p:sp>
        <p:nvSpPr>
          <p:cNvPr id="10" name="Text 8"/>
          <p:cNvSpPr/>
          <p:nvPr/>
        </p:nvSpPr>
        <p:spPr>
          <a:xfrm>
            <a:off x="7823200" y="2569766"/>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sp>
        <p:nvSpPr>
          <p:cNvPr id="11" name="Text 9"/>
          <p:cNvSpPr/>
          <p:nvPr/>
        </p:nvSpPr>
        <p:spPr>
          <a:xfrm>
            <a:off x="7823200" y="2859286"/>
            <a:ext cx="366268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few_shot ('Corneal ulcer of eye, unspecified', 'H56.1', None, True)</a:t>
            </a:r>
            <a:endParaRPr lang="en-US" sz="1200" dirty="0"/>
          </a:p>
        </p:txBody>
      </p:sp>
      <p:sp>
        <p:nvSpPr>
          <p:cNvPr id="12" name="Text 10"/>
          <p:cNvSpPr/>
          <p:nvPr/>
        </p:nvSpPr>
        <p:spPr>
          <a:xfrm>
            <a:off x="7823200" y="3448546"/>
            <a:ext cx="366268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The answer schemas</a:t>
            </a:r>
            <a:endParaRPr lang="en-US" sz="1600" dirty="0"/>
          </a:p>
        </p:txBody>
      </p:sp>
      <p:sp>
        <p:nvSpPr>
          <p:cNvPr id="13" name="Text 11"/>
          <p:cNvSpPr/>
          <p:nvPr/>
        </p:nvSpPr>
        <p:spPr>
          <a:xfrm>
            <a:off x="7823200" y="3768576"/>
            <a:ext cx="3662680" cy="146551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class Answer(BaseModel):</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diagnosis: str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icd10: str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class AnswerCoT(BaseModel):</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reasoning: str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diagnosis: str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icd10: str</a:t>
            </a:r>
            <a:endParaRPr lang="en-US" sz="1200" dirty="0"/>
          </a:p>
        </p:txBody>
      </p:sp>
      <p:sp>
        <p:nvSpPr>
          <p:cNvPr id="14" name="Text 12"/>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cells 18 and 20</a:t>
            </a:r>
            <a:endParaRPr lang="en-US" sz="1200" dirty="0"/>
          </a:p>
        </p:txBody>
      </p:sp>
      <p:sp>
        <p:nvSpPr>
          <p:cNvPr id="15" name="Text 1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ASK THE MODEL (STEP 5 OF 7)</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The full run asks all three prompts about the same 94 stays, which takes about 10 minutes</a:t>
            </a:r>
            <a:endParaRPr lang="en-US" sz="2600" dirty="0"/>
          </a:p>
        </p:txBody>
      </p:sp>
      <p:sp>
        <p:nvSpPr>
          <p:cNvPr id="4" name="Shape 2"/>
          <p:cNvSpPr/>
          <p:nvPr/>
        </p:nvSpPr>
        <p:spPr>
          <a:xfrm>
            <a:off x="825500" y="1937941"/>
            <a:ext cx="0" cy="257175"/>
          </a:xfrm>
          <a:prstGeom prst="line">
            <a:avLst/>
          </a:prstGeom>
          <a:noFill/>
          <a:ln w="25400">
            <a:solidFill>
              <a:srgbClr val="0E6E6C"/>
            </a:solidFill>
            <a:prstDash val="solid"/>
          </a:ln>
        </p:spPr>
      </p:sp>
      <p:sp>
        <p:nvSpPr>
          <p:cNvPr id="5" name="Text 3"/>
          <p:cNvSpPr/>
          <p:nvPr/>
        </p:nvSpPr>
        <p:spPr>
          <a:xfrm>
            <a:off x="965200" y="1937941"/>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Chain-of-thought takes about five times longer than the other two because it writes out its reasoning first</a:t>
            </a:r>
            <a:endParaRPr lang="en-US" sz="1500" dirty="0"/>
          </a:p>
        </p:txBody>
      </p:sp>
      <p:sp>
        <p:nvSpPr>
          <p:cNvPr id="6" name="Shape 4"/>
          <p:cNvSpPr/>
          <p:nvPr/>
        </p:nvSpPr>
        <p:spPr>
          <a:xfrm>
            <a:off x="812800" y="2458641"/>
            <a:ext cx="6604000" cy="0"/>
          </a:xfrm>
          <a:prstGeom prst="line">
            <a:avLst/>
          </a:prstGeom>
          <a:noFill/>
          <a:ln w="19050">
            <a:solidFill>
              <a:srgbClr val="17212B"/>
            </a:solidFill>
            <a:prstDash val="solid"/>
          </a:ln>
        </p:spPr>
      </p:sp>
      <p:sp>
        <p:nvSpPr>
          <p:cNvPr id="7" name="Text 5"/>
          <p:cNvSpPr/>
          <p:nvPr/>
        </p:nvSpPr>
        <p:spPr>
          <a:xfrm>
            <a:off x="812800" y="2569766"/>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Run every stay through every technique</a:t>
            </a:r>
            <a:endParaRPr lang="en-US" sz="1600" dirty="0"/>
          </a:p>
        </p:txBody>
      </p:sp>
      <p:sp>
        <p:nvSpPr>
          <p:cNvPr id="8" name="Text 6"/>
          <p:cNvSpPr/>
          <p:nvPr/>
        </p:nvSpPr>
        <p:spPr>
          <a:xfrm>
            <a:off x="812800" y="2889796"/>
            <a:ext cx="6802120" cy="24941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TECHNIQUES = ["zero_shot", "few_shot", "cot"]</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rows = []</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for technique in TECHNIQUES:</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for _, row in tqdm(eval_df.iterrows(), total=len(eval_df),</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desc=technique):</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dx, code, reasoning, ok = ask(row, technique)</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rows.append({"stay_id": row.stay_id,</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"technique": technique,</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"true_chapter": row.true_chapter,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"pred_code": code,</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"parse_ok": ok})</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results = pd.DataFrame(rows)</a:t>
            </a:r>
            <a:endParaRPr lang="en-US" sz="1200" dirty="0"/>
          </a:p>
        </p:txBody>
      </p:sp>
      <p:sp>
        <p:nvSpPr>
          <p:cNvPr id="9" name="Shape 7"/>
          <p:cNvSpPr/>
          <p:nvPr/>
        </p:nvSpPr>
        <p:spPr>
          <a:xfrm>
            <a:off x="7823200" y="2458641"/>
            <a:ext cx="3556000" cy="0"/>
          </a:xfrm>
          <a:prstGeom prst="line">
            <a:avLst/>
          </a:prstGeom>
          <a:noFill/>
          <a:ln w="19050">
            <a:solidFill>
              <a:srgbClr val="0E6E6C"/>
            </a:solidFill>
            <a:prstDash val="solid"/>
          </a:ln>
        </p:spPr>
      </p:sp>
      <p:sp>
        <p:nvSpPr>
          <p:cNvPr id="10" name="Text 8"/>
          <p:cNvSpPr/>
          <p:nvPr/>
        </p:nvSpPr>
        <p:spPr>
          <a:xfrm>
            <a:off x="7823200" y="2569766"/>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sp>
        <p:nvSpPr>
          <p:cNvPr id="11" name="Text 9"/>
          <p:cNvSpPr/>
          <p:nvPr/>
        </p:nvSpPr>
        <p:spPr>
          <a:xfrm>
            <a:off x="7823200" y="2859286"/>
            <a:ext cx="366268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7212B"/>
                </a:solidFill>
                <a:latin typeface="IBM Plex Mono" pitchFamily="49" charset="0"/>
                <a:ea typeface="IBM Plex Mono" pitchFamily="49" charset="-122"/>
                <a:cs typeface="IBM Plex Mono" pitchFamily="49" charset="-120"/>
              </a:rPr>
              <a:t>zero_shot: 100% 94/94 [01:25]</a:t>
            </a:r>
            <a:endParaRPr lang="en-US" sz="1200" dirty="0"/>
          </a:p>
          <a:p>
            <a:pPr algn="l" indent="0" marL="0">
              <a:lnSpc>
                <a:spcPts val="1800"/>
              </a:lnSpc>
              <a:buNone/>
            </a:pPr>
            <a:r>
              <a:rPr lang="en-US" sz="1200" dirty="0">
                <a:solidFill>
                  <a:srgbClr val="17212B"/>
                </a:solidFill>
                <a:latin typeface="IBM Plex Mono" pitchFamily="49" charset="0"/>
                <a:ea typeface="IBM Plex Mono" pitchFamily="49" charset="-122"/>
                <a:cs typeface="IBM Plex Mono" pitchFamily="49" charset="-120"/>
              </a:rPr>
              <a:t>few_shot:  100% 94/94 [01:04]</a:t>
            </a:r>
            <a:endParaRPr lang="en-US" sz="1200" dirty="0"/>
          </a:p>
          <a:p>
            <a:pPr algn="l" indent="0" marL="0">
              <a:lnSpc>
                <a:spcPts val="1800"/>
              </a:lnSpc>
              <a:buNone/>
            </a:pPr>
            <a:r>
              <a:rPr lang="en-US" sz="1200" dirty="0">
                <a:solidFill>
                  <a:srgbClr val="17212B"/>
                </a:solidFill>
                <a:latin typeface="IBM Plex Mono" pitchFamily="49" charset="0"/>
                <a:ea typeface="IBM Plex Mono" pitchFamily="49" charset="-122"/>
                <a:cs typeface="IBM Plex Mono" pitchFamily="49" charset="-120"/>
              </a:rPr>
              <a:t>cot:       100% 94/94 [06:56]</a:t>
            </a:r>
            <a:endParaRPr lang="en-US" sz="1200" dirty="0"/>
          </a:p>
        </p:txBody>
      </p:sp>
      <p:sp>
        <p:nvSpPr>
          <p:cNvPr id="12" name="Text 10"/>
          <p:cNvSpPr/>
          <p:nvPr/>
        </p:nvSpPr>
        <p:spPr>
          <a:xfrm>
            <a:off x="7823200" y="3672086"/>
            <a:ext cx="36626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Three progress bars appear, one for each technique, followed by the first rows of the results table.</a:t>
            </a:r>
            <a:endParaRPr lang="en-US" sz="1300" dirty="0"/>
          </a:p>
        </p:txBody>
      </p:sp>
      <p:sp>
        <p:nvSpPr>
          <p:cNvPr id="13" name="Text 11"/>
          <p:cNvSpPr/>
          <p:nvPr/>
        </p:nvSpPr>
        <p:spPr>
          <a:xfrm>
            <a:off x="7823200" y="4441676"/>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If the run is too slow on your machine, lower N_CASES in the config cell and run it again.</a:t>
            </a:r>
            <a:endParaRPr lang="en-US" sz="1300" dirty="0"/>
          </a:p>
        </p:txBody>
      </p:sp>
      <p:sp>
        <p:nvSpPr>
          <p:cNvPr id="14" name="Text 12"/>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 21</a:t>
            </a:r>
            <a:endParaRPr lang="en-US" sz="1200" dirty="0"/>
          </a:p>
        </p:txBody>
      </p:sp>
      <p:sp>
        <p:nvSpPr>
          <p:cNvPr id="15" name="Text 1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SCORE (STEP 6 OF 7)</a:t>
            </a:r>
            <a:endParaRPr lang="en-US" sz="1200" dirty="0"/>
          </a:p>
        </p:txBody>
      </p:sp>
      <p:sp>
        <p:nvSpPr>
          <p:cNvPr id="3" name="Text 1"/>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Each answer is scored by its ICD-10 chapter and checked against the code dictionary</a:t>
            </a:r>
            <a:endParaRPr lang="en-US" sz="2600" dirty="0"/>
          </a:p>
        </p:txBody>
      </p:sp>
      <p:sp>
        <p:nvSpPr>
          <p:cNvPr id="4" name="Shape 2"/>
          <p:cNvSpPr/>
          <p:nvPr/>
        </p:nvSpPr>
        <p:spPr>
          <a:xfrm>
            <a:off x="825500" y="1937941"/>
            <a:ext cx="0" cy="514350"/>
          </a:xfrm>
          <a:prstGeom prst="line">
            <a:avLst/>
          </a:prstGeom>
          <a:noFill/>
          <a:ln w="25400">
            <a:solidFill>
              <a:srgbClr val="0E6E6C"/>
            </a:solidFill>
            <a:prstDash val="solid"/>
          </a:ln>
        </p:spPr>
      </p:sp>
      <p:sp>
        <p:nvSpPr>
          <p:cNvPr id="5" name="Text 3"/>
          <p:cNvSpPr/>
          <p:nvPr/>
        </p:nvSpPr>
        <p:spPr>
          <a:xfrm>
            <a:off x="965200" y="1937941"/>
            <a:ext cx="1030782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Accuracy and the invented-code rate are measured separately, because a made-up code can still land in the right chapter</a:t>
            </a:r>
            <a:endParaRPr lang="en-US" sz="1500" dirty="0"/>
          </a:p>
        </p:txBody>
      </p:sp>
      <p:sp>
        <p:nvSpPr>
          <p:cNvPr id="6" name="Shape 4"/>
          <p:cNvSpPr/>
          <p:nvPr/>
        </p:nvSpPr>
        <p:spPr>
          <a:xfrm>
            <a:off x="812800" y="2715816"/>
            <a:ext cx="6604000" cy="0"/>
          </a:xfrm>
          <a:prstGeom prst="line">
            <a:avLst/>
          </a:prstGeom>
          <a:noFill/>
          <a:ln w="19050">
            <a:solidFill>
              <a:srgbClr val="17212B"/>
            </a:solidFill>
            <a:prstDash val="solid"/>
          </a:ln>
        </p:spPr>
      </p:sp>
      <p:sp>
        <p:nvSpPr>
          <p:cNvPr id="7" name="Text 5"/>
          <p:cNvSpPr/>
          <p:nvPr/>
        </p:nvSpPr>
        <p:spPr>
          <a:xfrm>
            <a:off x="812800" y="2826941"/>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Score each prompt</a:t>
            </a:r>
            <a:endParaRPr lang="en-US" sz="1600" dirty="0"/>
          </a:p>
        </p:txBody>
      </p:sp>
      <p:sp>
        <p:nvSpPr>
          <p:cNvPr id="8" name="Text 6"/>
          <p:cNvSpPr/>
          <p:nvPr/>
        </p:nvSpPr>
        <p:spPr>
          <a:xfrm>
            <a:off x="812800" y="3146971"/>
            <a:ext cx="6802120" cy="24941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results["pred_chapter"] = results.pred_code.map(</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lambda c: icd10_chapter(c) if isinstance(c, str)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else "Parse failed")</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results["correct"] = results.pred_chapter == results.true_chapter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results["valid_code"] = results.pred_code.map(</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lambda c: clean_code(c) in valid_icd10 if isinstance(c, str)</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else np.nan).astype(float)</a:t>
            </a:r>
            <a:endParaRPr lang="en-US" sz="1200" dirty="0"/>
          </a:p>
          <a:p>
            <a:pPr algn="l" indent="0" marL="0">
              <a:lnSpc>
                <a:spcPts val="1620"/>
              </a:lnSpc>
              <a:buNone/>
            </a:pP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summary = results.groupby("technique", sort=False).agg(</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accuracy=("correct", "mean"),</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invented_code=("valid_code", lambda v: 1 - v.mean()),</a:t>
            </a:r>
            <a:endParaRPr lang="en-US" sz="1200" dirty="0"/>
          </a:p>
          <a:p>
            <a:pPr algn="l" indent="0" marL="0">
              <a:lnSpc>
                <a:spcPts val="1620"/>
              </a:lnSpc>
              <a:buNone/>
            </a:pPr>
            <a:r>
              <a:rPr lang="en-US" sz="1200" dirty="0">
                <a:solidFill>
                  <a:srgbClr val="17212B"/>
                </a:solidFill>
                <a:latin typeface="IBM Plex Mono" pitchFamily="49" charset="0"/>
                <a:ea typeface="IBM Plex Mono" pitchFamily="49" charset="-122"/>
                <a:cs typeface="IBM Plex Mono" pitchFamily="49" charset="-120"/>
              </a:rPr>
              <a:t>    parse_failed=("parse_ok", lambda v: 1 - v.mean()))</a:t>
            </a:r>
            <a:endParaRPr lang="en-US" sz="1200" dirty="0"/>
          </a:p>
        </p:txBody>
      </p:sp>
      <p:sp>
        <p:nvSpPr>
          <p:cNvPr id="9" name="Shape 7"/>
          <p:cNvSpPr/>
          <p:nvPr/>
        </p:nvSpPr>
        <p:spPr>
          <a:xfrm>
            <a:off x="7823200" y="2715816"/>
            <a:ext cx="3556000" cy="0"/>
          </a:xfrm>
          <a:prstGeom prst="line">
            <a:avLst/>
          </a:prstGeom>
          <a:noFill/>
          <a:ln w="19050">
            <a:solidFill>
              <a:srgbClr val="0E6E6C"/>
            </a:solidFill>
            <a:prstDash val="solid"/>
          </a:ln>
        </p:spPr>
      </p:sp>
      <p:sp>
        <p:nvSpPr>
          <p:cNvPr id="10" name="Text 8"/>
          <p:cNvSpPr/>
          <p:nvPr/>
        </p:nvSpPr>
        <p:spPr>
          <a:xfrm>
            <a:off x="7823200" y="2826941"/>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YOU SHOULD SEE</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835900" y="3129161"/>
          <a:ext cx="3543300" cy="1310481"/>
        </p:xfrm>
        <a:graphic>
          <a:graphicData uri="http://schemas.openxmlformats.org/drawingml/2006/table">
            <a:tbl>
              <a:tblPr/>
              <a:tblGrid>
                <a:gridCol w="885825"/>
                <a:gridCol w="885825"/>
                <a:gridCol w="885825"/>
                <a:gridCol w="885825"/>
              </a:tblGrid>
              <a:tr h="327620">
                <a:tc>
                  <a:txBody>
                    <a:bodyPr/>
                    <a:lstStyle/>
                    <a:p>
                      <a:pPr indent="0" marL="0">
                        <a:lnSpc>
                          <a:spcPts val="1680"/>
                        </a:lnSpc>
                        <a:buNone/>
                      </a:pPr>
                      <a:r>
                        <a:rPr lang="en-US" sz="1200" b="1" dirty="0">
                          <a:solidFill>
                            <a:srgbClr val="17212B"/>
                          </a:solidFill>
                          <a:latin typeface="IBM Plex Sans" pitchFamily="34" charset="0"/>
                          <a:ea typeface="IBM Plex Sans" pitchFamily="34" charset="-122"/>
                          <a:cs typeface="IBM Plex Sans" pitchFamily="34" charset="-120"/>
                        </a:rPr>
                        <a:t>technique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E"/>
                    </a:solidFill>
                  </a:tcPr>
                </a:tc>
                <a:tc>
                  <a:txBody>
                    <a:bodyPr/>
                    <a:lstStyle/>
                    <a:p>
                      <a:pPr algn="r" indent="0" marL="0">
                        <a:lnSpc>
                          <a:spcPts val="1680"/>
                        </a:lnSpc>
                        <a:buNone/>
                      </a:pPr>
                      <a:r>
                        <a:rPr lang="en-US" sz="1200" b="1" dirty="0">
                          <a:solidFill>
                            <a:srgbClr val="17212B"/>
                          </a:solidFill>
                          <a:latin typeface="IBM Plex Sans" pitchFamily="34" charset="0"/>
                          <a:ea typeface="IBM Plex Sans" pitchFamily="34" charset="-122"/>
                          <a:cs typeface="IBM Plex Sans" pitchFamily="34" charset="-120"/>
                        </a:rPr>
                        <a:t>acc.</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E"/>
                    </a:solidFill>
                  </a:tcPr>
                </a:tc>
                <a:tc>
                  <a:txBody>
                    <a:bodyPr/>
                    <a:lstStyle/>
                    <a:p>
                      <a:pPr algn="r" indent="0" marL="0">
                        <a:lnSpc>
                          <a:spcPts val="1680"/>
                        </a:lnSpc>
                        <a:buNone/>
                      </a:pPr>
                      <a:r>
                        <a:rPr lang="en-US" sz="1200" b="1" dirty="0">
                          <a:solidFill>
                            <a:srgbClr val="17212B"/>
                          </a:solidFill>
                          <a:latin typeface="IBM Plex Sans" pitchFamily="34" charset="0"/>
                          <a:ea typeface="IBM Plex Sans" pitchFamily="34" charset="-122"/>
                          <a:cs typeface="IBM Plex Sans" pitchFamily="34" charset="-120"/>
                        </a:rPr>
                        <a:t>invented</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E"/>
                    </a:solidFill>
                  </a:tcPr>
                </a:tc>
                <a:tc>
                  <a:txBody>
                    <a:bodyPr/>
                    <a:lstStyle/>
                    <a:p>
                      <a:pPr algn="r" indent="0" marL="0">
                        <a:lnSpc>
                          <a:spcPts val="1680"/>
                        </a:lnSpc>
                        <a:buNone/>
                      </a:pPr>
                      <a:r>
                        <a:rPr lang="en-US" sz="1200" b="1" dirty="0">
                          <a:solidFill>
                            <a:srgbClr val="17212B"/>
                          </a:solidFill>
                          <a:latin typeface="IBM Plex Sans" pitchFamily="34" charset="0"/>
                          <a:ea typeface="IBM Plex Sans" pitchFamily="34" charset="-122"/>
                          <a:cs typeface="IBM Plex Sans" pitchFamily="34" charset="-120"/>
                        </a:rPr>
                        <a:t>parse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E"/>
                    </a:solidFill>
                  </a:tcPr>
                </a:tc>
              </a:tr>
              <a:tr h="32762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zero_shot</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31%</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49%</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762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few_shot</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43%</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762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cot</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24%</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2" name="Text 9"/>
          <p:cNvSpPr/>
          <p:nvPr/>
        </p:nvSpPr>
        <p:spPr>
          <a:xfrm>
            <a:off x="7823200" y="4566642"/>
            <a:ext cx="36626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The next slide reads these numbers alongside the notebook's charts.</a:t>
            </a:r>
            <a:endParaRPr lang="en-US" sz="1300" dirty="0"/>
          </a:p>
        </p:txBody>
      </p:sp>
      <p:sp>
        <p:nvSpPr>
          <p:cNvPr id="13" name="Text 10"/>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 23</a:t>
            </a:r>
            <a:endParaRPr lang="en-US" sz="1200" dirty="0"/>
          </a:p>
        </p:txBody>
      </p:sp>
      <p:sp>
        <p:nvSpPr>
          <p:cNvPr id="14" name="Text 11"/>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4007"/>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0E6E6C"/>
                </a:solidFill>
                <a:latin typeface="IBM Plex Sans" pitchFamily="34" charset="0"/>
                <a:ea typeface="IBM Plex Sans" pitchFamily="34" charset="-122"/>
                <a:cs typeface="IBM Plex Sans" pitchFamily="34" charset="-120"/>
              </a:rPr>
              <a:t>RESULTS (STEP 7 OF 7)</a:t>
            </a:r>
            <a:endParaRPr lang="en-US" sz="1196" dirty="0"/>
          </a:p>
        </p:txBody>
      </p:sp>
      <p:sp>
        <p:nvSpPr>
          <p:cNvPr id="3" name="Text 1"/>
          <p:cNvSpPr/>
          <p:nvPr>
            <p:ph type="title"/>
          </p:nvPr>
        </p:nvSpPr>
        <p:spPr>
          <a:xfrm>
            <a:off x="812800" y="1097607"/>
            <a:ext cx="10464800" cy="768102"/>
          </a:xfrm>
          <a:prstGeom prst="rect">
            <a:avLst/>
          </a:prstGeom>
          <a:noFill/>
          <a:ln/>
        </p:spPr>
        <p:txBody>
          <a:bodyPr wrap="square" lIns="0" tIns="0" rIns="0" bIns="0" rtlCol="0" anchor="t">
            <a:normAutofit/>
          </a:bodyPr>
          <a:lstStyle/>
          <a:p>
            <a:pPr algn="l" indent="0" marL="0">
              <a:lnSpc>
                <a:spcPts val="2934"/>
              </a:lnSpc>
              <a:buNone/>
            </a:pPr>
            <a:r>
              <a:rPr lang="en-US" sz="2551" b="1" i="0" dirty="0">
                <a:solidFill>
                  <a:srgbClr val="17212B"/>
                </a:solidFill>
                <a:latin typeface="IBM Plex Sans" pitchFamily="34" charset="0"/>
                <a:ea typeface="IBM Plex Sans" pitchFamily="34" charset="-122"/>
                <a:cs typeface="IBM Plex Sans" pitchFamily="34" charset="-120"/>
              </a:rPr>
              <a:t>None of the techniques clearly beat zero-shot, and chain-of-thought did worst</a:t>
            </a:r>
            <a:endParaRPr lang="en-US" sz="2551" dirty="0"/>
          </a:p>
        </p:txBody>
      </p:sp>
      <p:sp>
        <p:nvSpPr>
          <p:cNvPr id="4" name="Shape 2"/>
          <p:cNvSpPr/>
          <p:nvPr/>
        </p:nvSpPr>
        <p:spPr>
          <a:xfrm>
            <a:off x="825500" y="1916509"/>
            <a:ext cx="0" cy="503039"/>
          </a:xfrm>
          <a:prstGeom prst="line">
            <a:avLst/>
          </a:prstGeom>
          <a:noFill/>
          <a:ln w="25400">
            <a:solidFill>
              <a:srgbClr val="0E6E6C"/>
            </a:solidFill>
            <a:prstDash val="solid"/>
          </a:ln>
        </p:spPr>
      </p:sp>
      <p:sp>
        <p:nvSpPr>
          <p:cNvPr id="5" name="Text 3"/>
          <p:cNvSpPr/>
          <p:nvPr/>
        </p:nvSpPr>
        <p:spPr>
          <a:xfrm>
            <a:off x="965200" y="1916509"/>
            <a:ext cx="10307828" cy="528439"/>
          </a:xfrm>
          <a:prstGeom prst="rect">
            <a:avLst/>
          </a:prstGeom>
          <a:noFill/>
          <a:ln/>
        </p:spPr>
        <p:txBody>
          <a:bodyPr wrap="square" lIns="0" tIns="0" rIns="0" bIns="0" rtlCol="0" anchor="t">
            <a:normAutofit/>
          </a:bodyPr>
          <a:lstStyle/>
          <a:p>
            <a:pPr algn="l" indent="0" marL="0">
              <a:lnSpc>
                <a:spcPts val="1987"/>
              </a:lnSpc>
              <a:buNone/>
            </a:pPr>
            <a:r>
              <a:rPr lang="en-US" sz="1472" dirty="0">
                <a:solidFill>
                  <a:srgbClr val="3A4651"/>
                </a:solidFill>
                <a:latin typeface="IBM Plex Sans" pitchFamily="34" charset="0"/>
                <a:ea typeface="IBM Plex Sans" pitchFamily="34" charset="-122"/>
                <a:cs typeface="IBM Plex Sans" pitchFamily="34" charset="-120"/>
              </a:rPr>
              <a:t>Adding examples didn't make the model more accurate, and the ±10-point noise is larger than any gap between the prompts</a:t>
            </a:r>
            <a:endParaRPr lang="en-US" sz="1472" dirty="0"/>
          </a:p>
        </p:txBody>
      </p:sp>
      <p:sp>
        <p:nvSpPr>
          <p:cNvPr id="6" name="Shape 4"/>
          <p:cNvSpPr/>
          <p:nvPr/>
        </p:nvSpPr>
        <p:spPr>
          <a:xfrm>
            <a:off x="815975" y="2676723"/>
            <a:ext cx="3257550" cy="2647950"/>
          </a:xfrm>
          <a:prstGeom prst="roundRect">
            <a:avLst>
              <a:gd name="adj" fmla="val 2758"/>
            </a:avLst>
          </a:prstGeom>
          <a:solidFill>
            <a:srgbClr val="FFFFFF"/>
          </a:solidFill>
          <a:ln w="6350">
            <a:solidFill>
              <a:srgbClr val="E2E2DE"/>
            </a:solidFill>
            <a:prstDash val="solid"/>
          </a:ln>
        </p:spPr>
      </p:sp>
      <p:pic>
        <p:nvPicPr>
          <p:cNvPr id="7" name="Image 0" descr="Notebook bar chart: chapter accuracy by prompt, n = 94 ED stays; zero-shot 31%, few-shot 30%, CoT 24%">    </p:cNvPr>
          <p:cNvPicPr>
            <a:picLocks noChangeAspect="1"/>
          </p:cNvPicPr>
          <p:nvPr/>
        </p:nvPicPr>
        <p:blipFill>
          <a:blip r:embed="rId1"/>
          <a:srcRect l="-44" r="-44" t="0" b="0"/>
          <a:stretch/>
        </p:blipFill>
        <p:spPr>
          <a:xfrm>
            <a:off x="920750" y="2781498"/>
            <a:ext cx="3048000" cy="2438400"/>
          </a:xfrm>
          <a:prstGeom prst="rect">
            <a:avLst/>
          </a:prstGeom>
        </p:spPr>
      </p:pic>
      <p:sp>
        <p:nvSpPr>
          <p:cNvPr id="8" name="Shape 5"/>
          <p:cNvSpPr/>
          <p:nvPr/>
        </p:nvSpPr>
        <p:spPr>
          <a:xfrm>
            <a:off x="4333875" y="2676723"/>
            <a:ext cx="3079750" cy="2647950"/>
          </a:xfrm>
          <a:prstGeom prst="roundRect">
            <a:avLst>
              <a:gd name="adj" fmla="val 2758"/>
            </a:avLst>
          </a:prstGeom>
          <a:solidFill>
            <a:srgbClr val="FFFFFF"/>
          </a:solidFill>
          <a:ln w="6350">
            <a:solidFill>
              <a:srgbClr val="E2E2DE"/>
            </a:solidFill>
            <a:prstDash val="solid"/>
          </a:ln>
        </p:spPr>
      </p:sp>
      <p:pic>
        <p:nvPicPr>
          <p:cNvPr id="9" name="Image 1" descr="Notebook confusion matrix for zero-shot: the largest error is true Symptoms and signs predicted as Circulatory (7 stays)">    </p:cNvPr>
          <p:cNvPicPr>
            <a:picLocks noChangeAspect="1"/>
          </p:cNvPicPr>
          <p:nvPr/>
        </p:nvPicPr>
        <p:blipFill>
          <a:blip r:embed="rId2"/>
          <a:srcRect l="0" r="0" t="-81" b="-81"/>
          <a:stretch/>
        </p:blipFill>
        <p:spPr>
          <a:xfrm>
            <a:off x="4438650" y="2781498"/>
            <a:ext cx="2870200" cy="243840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83500" y="2686248"/>
          <a:ext cx="3670300" cy="1737122"/>
        </p:xfrm>
        <a:graphic>
          <a:graphicData uri="http://schemas.openxmlformats.org/drawingml/2006/table">
            <a:tbl>
              <a:tblPr/>
              <a:tblGrid>
                <a:gridCol w="917575"/>
                <a:gridCol w="917575"/>
                <a:gridCol w="917575"/>
                <a:gridCol w="917575"/>
              </a:tblGrid>
              <a:tr h="327620">
                <a:tc>
                  <a:txBody>
                    <a:bodyPr/>
                    <a:lstStyle/>
                    <a:p>
                      <a:pPr indent="0" marL="0">
                        <a:lnSpc>
                          <a:spcPts val="1680"/>
                        </a:lnSpc>
                        <a:buNone/>
                      </a:pP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E"/>
                    </a:solidFill>
                  </a:tcPr>
                </a:tc>
                <a:tc>
                  <a:txBody>
                    <a:bodyPr/>
                    <a:lstStyle/>
                    <a:p>
                      <a:pPr algn="r" indent="0" marL="0">
                        <a:lnSpc>
                          <a:spcPts val="1680"/>
                        </a:lnSpc>
                        <a:buNone/>
                      </a:pPr>
                      <a:r>
                        <a:rPr lang="en-US" sz="1200" b="1" dirty="0">
                          <a:solidFill>
                            <a:srgbClr val="17212B"/>
                          </a:solidFill>
                          <a:latin typeface="IBM Plex Sans" pitchFamily="34" charset="0"/>
                          <a:ea typeface="IBM Plex Sans" pitchFamily="34" charset="-122"/>
                          <a:cs typeface="IBM Plex Sans" pitchFamily="34" charset="-120"/>
                        </a:rPr>
                        <a:t>Zero</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E"/>
                    </a:solidFill>
                  </a:tcPr>
                </a:tc>
                <a:tc>
                  <a:txBody>
                    <a:bodyPr/>
                    <a:lstStyle/>
                    <a:p>
                      <a:pPr algn="r" indent="0" marL="0">
                        <a:lnSpc>
                          <a:spcPts val="1680"/>
                        </a:lnSpc>
                        <a:buNone/>
                      </a:pPr>
                      <a:r>
                        <a:rPr lang="en-US" sz="1200" b="1" dirty="0">
                          <a:solidFill>
                            <a:srgbClr val="17212B"/>
                          </a:solidFill>
                          <a:latin typeface="IBM Plex Sans" pitchFamily="34" charset="0"/>
                          <a:ea typeface="IBM Plex Sans" pitchFamily="34" charset="-122"/>
                          <a:cs typeface="IBM Plex Sans" pitchFamily="34" charset="-120"/>
                        </a:rPr>
                        <a:t>Few</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E"/>
                    </a:solidFill>
                  </a:tcPr>
                </a:tc>
                <a:tc>
                  <a:txBody>
                    <a:bodyPr/>
                    <a:lstStyle/>
                    <a:p>
                      <a:pPr algn="r" indent="0" marL="0">
                        <a:lnSpc>
                          <a:spcPts val="1680"/>
                        </a:lnSpc>
                        <a:buNone/>
                      </a:pPr>
                      <a:r>
                        <a:rPr lang="en-US" sz="1200" b="1" dirty="0">
                          <a:solidFill>
                            <a:srgbClr val="17212B"/>
                          </a:solidFill>
                          <a:latin typeface="IBM Plex Sans" pitchFamily="34" charset="0"/>
                          <a:ea typeface="IBM Plex Sans" pitchFamily="34" charset="-122"/>
                          <a:cs typeface="IBM Plex Sans" pitchFamily="34" charset="-120"/>
                        </a:rPr>
                        <a:t>CoT</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E"/>
                    </a:solidFill>
                  </a:tcPr>
                </a:tc>
              </a:tr>
              <a:tr h="32762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Accuracy</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31%</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24%</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0941">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Invented code</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49%</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43%</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0941">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Parse failed</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76200" marR="76200" marT="50800" marB="508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1" name="Text 6"/>
          <p:cNvSpPr/>
          <p:nvPr/>
        </p:nvSpPr>
        <p:spPr>
          <a:xfrm>
            <a:off x="7670800" y="4524970"/>
            <a:ext cx="381965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Few-shot invented fewer codes, which suggests the examples teach the code format more than the diagnosis.</a:t>
            </a:r>
            <a:endParaRPr lang="en-US" sz="1200" dirty="0"/>
          </a:p>
        </p:txBody>
      </p:sp>
      <p:sp>
        <p:nvSpPr>
          <p:cNvPr id="12" name="Text 7"/>
          <p:cNvSpPr/>
          <p:nvPr/>
        </p:nvSpPr>
        <p:spPr>
          <a:xfrm>
            <a:off x="7670800" y="5266531"/>
            <a:ext cx="381965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The most common error is 7 "Symptoms" stays that the model labeled "Circulatory" because the ED coded only the symptom.</a:t>
            </a:r>
            <a:endParaRPr lang="en-US" sz="1200" dirty="0"/>
          </a:p>
        </p:txBody>
      </p:sp>
      <p:sp>
        <p:nvSpPr>
          <p:cNvPr id="13" name="Text 8"/>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Notebook cells 23–25</a:t>
            </a:r>
            <a:endParaRPr lang="en-US" sz="1200" dirty="0"/>
          </a:p>
        </p:txBody>
      </p:sp>
      <p:sp>
        <p:nvSpPr>
          <p:cNvPr id="14" name="Text 9"/>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18</a:t>
            </a:r>
            <a:endParaRPr lang="en-US" sz="1200" dirty="0"/>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LIMITATIONS AND RESPONSIBLE USE (STEP 7 OF 7)</a:t>
            </a:r>
            <a:endParaRPr lang="en-US" sz="1200" dirty="0"/>
          </a:p>
        </p:txBody>
      </p:sp>
      <p:sp>
        <p:nvSpPr>
          <p:cNvPr id="4" name="Text 2"/>
          <p:cNvSpPr/>
          <p:nvPr>
            <p:ph type="title"/>
          </p:nvPr>
        </p:nvSpPr>
        <p:spPr>
          <a:xfrm>
            <a:off x="812800" y="11023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These results are only a first look because the labels are imperfect and both the sample and the model are small</a:t>
            </a:r>
            <a:endParaRPr lang="en-US" sz="2600" dirty="0"/>
          </a:p>
        </p:txBody>
      </p:sp>
      <p:sp>
        <p:nvSpPr>
          <p:cNvPr id="5" name="Shape 3"/>
          <p:cNvSpPr/>
          <p:nvPr/>
        </p:nvSpPr>
        <p:spPr>
          <a:xfrm>
            <a:off x="825500" y="1937941"/>
            <a:ext cx="0" cy="514350"/>
          </a:xfrm>
          <a:prstGeom prst="line">
            <a:avLst/>
          </a:prstGeom>
          <a:noFill/>
          <a:ln w="25400">
            <a:solidFill>
              <a:srgbClr val="0E6E6C"/>
            </a:solidFill>
            <a:prstDash val="solid"/>
          </a:ln>
        </p:spPr>
      </p:sp>
      <p:sp>
        <p:nvSpPr>
          <p:cNvPr id="6" name="Text 4"/>
          <p:cNvSpPr/>
          <p:nvPr/>
        </p:nvSpPr>
        <p:spPr>
          <a:xfrm>
            <a:off x="965200" y="1937941"/>
            <a:ext cx="1030782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651"/>
                </a:solidFill>
                <a:latin typeface="IBM Plex Sans" pitchFamily="34" charset="0"/>
                <a:ea typeface="IBM Plex Sans" pitchFamily="34" charset="-122"/>
                <a:cs typeface="IBM Plex Sans" pitchFamily="34" charset="-120"/>
              </a:rPr>
              <a:t>This should only be used as decision support, where a clinician reviews the draft so that automation bias doesn't creep in</a:t>
            </a:r>
            <a:endParaRPr lang="en-US" sz="1500" dirty="0"/>
          </a:p>
        </p:txBody>
      </p:sp>
      <p:sp>
        <p:nvSpPr>
          <p:cNvPr id="7" name="Shape 5"/>
          <p:cNvSpPr/>
          <p:nvPr/>
        </p:nvSpPr>
        <p:spPr>
          <a:xfrm>
            <a:off x="812800" y="2765425"/>
            <a:ext cx="3318917" cy="0"/>
          </a:xfrm>
          <a:prstGeom prst="line">
            <a:avLst/>
          </a:prstGeom>
          <a:noFill/>
          <a:ln w="19050">
            <a:solidFill>
              <a:srgbClr val="17212B"/>
            </a:solidFill>
            <a:prstDash val="solid"/>
          </a:ln>
        </p:spPr>
      </p:sp>
      <p:sp>
        <p:nvSpPr>
          <p:cNvPr id="8" name="Text 6"/>
          <p:cNvSpPr/>
          <p:nvPr/>
        </p:nvSpPr>
        <p:spPr>
          <a:xfrm>
            <a:off x="812800" y="2876550"/>
            <a:ext cx="3418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Billing labels</a:t>
            </a:r>
            <a:endParaRPr lang="en-US" sz="1600" dirty="0"/>
          </a:p>
        </p:txBody>
      </p:sp>
      <p:sp>
        <p:nvSpPr>
          <p:cNvPr id="9" name="Text 7"/>
          <p:cNvSpPr/>
          <p:nvPr/>
        </p:nvSpPr>
        <p:spPr>
          <a:xfrm>
            <a:off x="812800" y="3171180"/>
            <a:ext cx="341848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The codes are assigned after the workup and are not a gold standard, and they often record only the symptom.</a:t>
            </a:r>
            <a:endParaRPr lang="en-US" sz="1300" dirty="0"/>
          </a:p>
        </p:txBody>
      </p:sp>
      <p:sp>
        <p:nvSpPr>
          <p:cNvPr id="10" name="Shape 8"/>
          <p:cNvSpPr/>
          <p:nvPr/>
        </p:nvSpPr>
        <p:spPr>
          <a:xfrm>
            <a:off x="4436517" y="2765425"/>
            <a:ext cx="3318966" cy="0"/>
          </a:xfrm>
          <a:prstGeom prst="line">
            <a:avLst/>
          </a:prstGeom>
          <a:noFill/>
          <a:ln w="19050">
            <a:solidFill>
              <a:srgbClr val="17212B"/>
            </a:solidFill>
            <a:prstDash val="solid"/>
          </a:ln>
        </p:spPr>
      </p:sp>
      <p:sp>
        <p:nvSpPr>
          <p:cNvPr id="11" name="Text 9"/>
          <p:cNvSpPr/>
          <p:nvPr/>
        </p:nvSpPr>
        <p:spPr>
          <a:xfrm>
            <a:off x="4436517" y="2876550"/>
            <a:ext cx="34185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Small sample</a:t>
            </a:r>
            <a:endParaRPr lang="en-US" sz="1600" dirty="0"/>
          </a:p>
        </p:txBody>
      </p:sp>
      <p:sp>
        <p:nvSpPr>
          <p:cNvPr id="12" name="Text 10"/>
          <p:cNvSpPr/>
          <p:nvPr/>
        </p:nvSpPr>
        <p:spPr>
          <a:xfrm>
            <a:off x="4436517" y="3171180"/>
            <a:ext cx="34185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We scored only 94 stays from 29 patients, so the estimates are noisy.</a:t>
            </a:r>
            <a:endParaRPr lang="en-US" sz="1300" dirty="0"/>
          </a:p>
        </p:txBody>
      </p:sp>
      <p:sp>
        <p:nvSpPr>
          <p:cNvPr id="13" name="Shape 11"/>
          <p:cNvSpPr/>
          <p:nvPr/>
        </p:nvSpPr>
        <p:spPr>
          <a:xfrm>
            <a:off x="8060283" y="2765425"/>
            <a:ext cx="3318917" cy="0"/>
          </a:xfrm>
          <a:prstGeom prst="line">
            <a:avLst/>
          </a:prstGeom>
          <a:noFill/>
          <a:ln w="19050">
            <a:solidFill>
              <a:srgbClr val="17212B"/>
            </a:solidFill>
            <a:prstDash val="solid"/>
          </a:ln>
        </p:spPr>
      </p:sp>
      <p:sp>
        <p:nvSpPr>
          <p:cNvPr id="14" name="Text 12"/>
          <p:cNvSpPr/>
          <p:nvPr/>
        </p:nvSpPr>
        <p:spPr>
          <a:xfrm>
            <a:off x="8060283" y="2876550"/>
            <a:ext cx="3418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One hospital</a:t>
            </a:r>
            <a:endParaRPr lang="en-US" sz="1600" dirty="0"/>
          </a:p>
        </p:txBody>
      </p:sp>
      <p:sp>
        <p:nvSpPr>
          <p:cNvPr id="15" name="Text 13"/>
          <p:cNvSpPr/>
          <p:nvPr/>
        </p:nvSpPr>
        <p:spPr>
          <a:xfrm>
            <a:off x="8060283" y="3171180"/>
            <a:ext cx="341848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All of the data comes from Beth Israel Deaconess, and its coding habits may not carry over to other hospitals.</a:t>
            </a:r>
            <a:endParaRPr lang="en-US" sz="1300" dirty="0"/>
          </a:p>
        </p:txBody>
      </p:sp>
      <p:sp>
        <p:nvSpPr>
          <p:cNvPr id="16" name="Shape 14"/>
          <p:cNvSpPr/>
          <p:nvPr/>
        </p:nvSpPr>
        <p:spPr>
          <a:xfrm>
            <a:off x="812800" y="4026495"/>
            <a:ext cx="3318917" cy="0"/>
          </a:xfrm>
          <a:prstGeom prst="line">
            <a:avLst/>
          </a:prstGeom>
          <a:noFill/>
          <a:ln w="19050">
            <a:solidFill>
              <a:srgbClr val="17212B"/>
            </a:solidFill>
            <a:prstDash val="solid"/>
          </a:ln>
        </p:spPr>
      </p:sp>
      <p:sp>
        <p:nvSpPr>
          <p:cNvPr id="17" name="Text 15"/>
          <p:cNvSpPr/>
          <p:nvPr/>
        </p:nvSpPr>
        <p:spPr>
          <a:xfrm>
            <a:off x="812800" y="4137620"/>
            <a:ext cx="3418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One small model</a:t>
            </a:r>
            <a:endParaRPr lang="en-US" sz="1600" dirty="0"/>
          </a:p>
        </p:txBody>
      </p:sp>
      <p:sp>
        <p:nvSpPr>
          <p:cNvPr id="18" name="Text 16"/>
          <p:cNvSpPr/>
          <p:nvPr/>
        </p:nvSpPr>
        <p:spPr>
          <a:xfrm>
            <a:off x="812800" y="4432250"/>
            <a:ext cx="341848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We used a single 3B, 4-bit model with one seed, and a larger model may behave differently.</a:t>
            </a:r>
            <a:endParaRPr lang="en-US" sz="1300" dirty="0"/>
          </a:p>
        </p:txBody>
      </p:sp>
      <p:sp>
        <p:nvSpPr>
          <p:cNvPr id="19" name="Shape 17"/>
          <p:cNvSpPr/>
          <p:nvPr/>
        </p:nvSpPr>
        <p:spPr>
          <a:xfrm>
            <a:off x="4436517" y="4026495"/>
            <a:ext cx="3318966" cy="0"/>
          </a:xfrm>
          <a:prstGeom prst="line">
            <a:avLst/>
          </a:prstGeom>
          <a:noFill/>
          <a:ln w="19050">
            <a:solidFill>
              <a:srgbClr val="17212B"/>
            </a:solidFill>
            <a:prstDash val="solid"/>
          </a:ln>
        </p:spPr>
      </p:sp>
      <p:sp>
        <p:nvSpPr>
          <p:cNvPr id="20" name="Text 18"/>
          <p:cNvSpPr/>
          <p:nvPr/>
        </p:nvSpPr>
        <p:spPr>
          <a:xfrm>
            <a:off x="4436517" y="4137620"/>
            <a:ext cx="34185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Unfaithful reasoning</a:t>
            </a:r>
            <a:endParaRPr lang="en-US" sz="1600" dirty="0"/>
          </a:p>
        </p:txBody>
      </p:sp>
      <p:sp>
        <p:nvSpPr>
          <p:cNvPr id="21" name="Text 19"/>
          <p:cNvSpPr/>
          <p:nvPr/>
        </p:nvSpPr>
        <p:spPr>
          <a:xfrm>
            <a:off x="4436517" y="4432250"/>
            <a:ext cx="34185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The CoT reasoning sounds plausible, but it can invent findings or answer in ICD-9.</a:t>
            </a:r>
            <a:endParaRPr lang="en-US" sz="1300" dirty="0"/>
          </a:p>
        </p:txBody>
      </p:sp>
      <p:sp>
        <p:nvSpPr>
          <p:cNvPr id="22" name="Shape 20"/>
          <p:cNvSpPr/>
          <p:nvPr/>
        </p:nvSpPr>
        <p:spPr>
          <a:xfrm>
            <a:off x="8060283" y="4026495"/>
            <a:ext cx="3318917" cy="0"/>
          </a:xfrm>
          <a:prstGeom prst="line">
            <a:avLst/>
          </a:prstGeom>
          <a:noFill/>
          <a:ln w="19050">
            <a:solidFill>
              <a:srgbClr val="0E6E6C"/>
            </a:solidFill>
            <a:prstDash val="solid"/>
          </a:ln>
        </p:spPr>
      </p:sp>
      <p:sp>
        <p:nvSpPr>
          <p:cNvPr id="23" name="Text 21"/>
          <p:cNvSpPr/>
          <p:nvPr/>
        </p:nvSpPr>
        <p:spPr>
          <a:xfrm>
            <a:off x="8060283" y="4137620"/>
            <a:ext cx="3418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6E6C"/>
                </a:solidFill>
                <a:latin typeface="IBM Plex Sans" pitchFamily="34" charset="0"/>
                <a:ea typeface="IBM Plex Sans" pitchFamily="34" charset="-122"/>
                <a:cs typeface="IBM Plex Sans" pitchFamily="34" charset="-120"/>
              </a:rPr>
              <a:t>Decision support only</a:t>
            </a:r>
            <a:endParaRPr lang="en-US" sz="1600" dirty="0"/>
          </a:p>
        </p:txBody>
      </p:sp>
      <p:sp>
        <p:nvSpPr>
          <p:cNvPr id="24" name="Text 22"/>
          <p:cNvSpPr/>
          <p:nvPr/>
        </p:nvSpPr>
        <p:spPr>
          <a:xfrm>
            <a:off x="8060283" y="4432250"/>
            <a:ext cx="341848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A tool like this should never replace triage judgment (lectures 10.2 and 8.2).</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6E6C"/>
                </a:solidFill>
                <a:latin typeface="IBM Plex Sans" pitchFamily="34" charset="0"/>
                <a:ea typeface="IBM Plex Sans" pitchFamily="34" charset="-122"/>
                <a:cs typeface="IBM Plex Sans" pitchFamily="34" charset="-120"/>
              </a:rPr>
              <a:t>REFERENCES</a:t>
            </a:r>
            <a:endParaRPr lang="en-US" sz="1200" dirty="0"/>
          </a:p>
        </p:txBody>
      </p:sp>
      <p:sp>
        <p:nvSpPr>
          <p:cNvPr id="3" name="Text 1"/>
          <p:cNvSpPr/>
          <p:nvPr>
            <p:ph type="title"/>
          </p:nvPr>
        </p:nvSpPr>
        <p:spPr>
          <a:xfrm>
            <a:off x="812800" y="1102320"/>
            <a:ext cx="10464800"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7212B"/>
                </a:solidFill>
                <a:latin typeface="IBM Plex Sans" pitchFamily="34" charset="0"/>
                <a:ea typeface="IBM Plex Sans" pitchFamily="34" charset="-122"/>
                <a:cs typeface="IBM Plex Sans" pitchFamily="34" charset="-120"/>
              </a:rPr>
              <a:t>Data, tools and papers used in this tutorial</a:t>
            </a:r>
            <a:endParaRPr lang="en-US" sz="2600" dirty="0"/>
          </a:p>
        </p:txBody>
      </p:sp>
      <p:sp>
        <p:nvSpPr>
          <p:cNvPr id="4" name="Shape 2"/>
          <p:cNvSpPr/>
          <p:nvPr/>
        </p:nvSpPr>
        <p:spPr>
          <a:xfrm>
            <a:off x="812800" y="1796355"/>
            <a:ext cx="4978400" cy="0"/>
          </a:xfrm>
          <a:prstGeom prst="line">
            <a:avLst/>
          </a:prstGeom>
          <a:noFill/>
          <a:ln w="19050">
            <a:solidFill>
              <a:srgbClr val="17212B"/>
            </a:solidFill>
            <a:prstDash val="solid"/>
          </a:ln>
        </p:spPr>
      </p:sp>
      <p:sp>
        <p:nvSpPr>
          <p:cNvPr id="5" name="Text 3"/>
          <p:cNvSpPr/>
          <p:nvPr/>
        </p:nvSpPr>
        <p:spPr>
          <a:xfrm>
            <a:off x="812800" y="1907480"/>
            <a:ext cx="51277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Data</a:t>
            </a:r>
            <a:endParaRPr lang="en-US" sz="1600" dirty="0"/>
          </a:p>
        </p:txBody>
      </p:sp>
      <p:sp>
        <p:nvSpPr>
          <p:cNvPr id="6" name="Text 4"/>
          <p:cNvSpPr/>
          <p:nvPr/>
        </p:nvSpPr>
        <p:spPr>
          <a:xfrm>
            <a:off x="812800" y="2278311"/>
            <a:ext cx="512775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12B"/>
                </a:solidFill>
                <a:latin typeface="IBM Plex Sans" pitchFamily="34" charset="0"/>
                <a:ea typeface="IBM Plex Sans" pitchFamily="34" charset="-122"/>
                <a:cs typeface="IBM Plex Sans" pitchFamily="34" charset="-120"/>
              </a:rPr>
              <a:t>Johnson, A., Bulgarelli, L., Pollard, T., Celi, L. A., Horng, S., &amp; Mark, R. (2023). MIMIC-IV-ED Demo (version 2.2). PhysioNet. https://doi.org/10.13026/jzz5-vs76</a:t>
            </a:r>
            <a:endParaRPr lang="en-US" sz="1200" dirty="0"/>
          </a:p>
        </p:txBody>
      </p:sp>
      <p:sp>
        <p:nvSpPr>
          <p:cNvPr id="7" name="Text 5"/>
          <p:cNvSpPr/>
          <p:nvPr/>
        </p:nvSpPr>
        <p:spPr>
          <a:xfrm>
            <a:off x="812800" y="3068191"/>
            <a:ext cx="512775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12B"/>
                </a:solidFill>
                <a:latin typeface="IBM Plex Sans" pitchFamily="34" charset="0"/>
                <a:ea typeface="IBM Plex Sans" pitchFamily="34" charset="-122"/>
                <a:cs typeface="IBM Plex Sans" pitchFamily="34" charset="-120"/>
              </a:rPr>
              <a:t>Johnson, A., Bulgarelli, L., Pollard, T., Horng, S., Celi, L. A., &amp; Mark, R. (2022). MIMIC-IV Clinical Database Demo. PhysioNet. https://doi.org/10.13026/ng9m-3n32</a:t>
            </a:r>
            <a:endParaRPr lang="en-US" sz="1200" dirty="0"/>
          </a:p>
        </p:txBody>
      </p:sp>
      <p:sp>
        <p:nvSpPr>
          <p:cNvPr id="8" name="Text 6"/>
          <p:cNvSpPr/>
          <p:nvPr/>
        </p:nvSpPr>
        <p:spPr>
          <a:xfrm>
            <a:off x="812800" y="3858071"/>
            <a:ext cx="5127752"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12B"/>
                </a:solidFill>
                <a:latin typeface="IBM Plex Sans" pitchFamily="34" charset="0"/>
                <a:ea typeface="IBM Plex Sans" pitchFamily="34" charset="-122"/>
                <a:cs typeface="IBM Plex Sans" pitchFamily="34" charset="-120"/>
              </a:rPr>
              <a:t>Pollard, T., Moody, B. E., Lehman, L., Gow, B., Fernandes, C., Xie, C., Johnson, A., Mark, R. G., &amp; Heldt, T. (2026). PhysioNet as a global platform for biomedical research. Nature Health. https://doi.org/10.1038/s44360-026-00096-z</a:t>
            </a:r>
            <a:endParaRPr lang="en-US" sz="1200" dirty="0"/>
          </a:p>
        </p:txBody>
      </p:sp>
      <p:sp>
        <p:nvSpPr>
          <p:cNvPr id="9" name="Shape 7"/>
          <p:cNvSpPr/>
          <p:nvPr/>
        </p:nvSpPr>
        <p:spPr>
          <a:xfrm>
            <a:off x="6400800" y="1796355"/>
            <a:ext cx="4978400" cy="0"/>
          </a:xfrm>
          <a:prstGeom prst="line">
            <a:avLst/>
          </a:prstGeom>
          <a:noFill/>
          <a:ln w="19050">
            <a:solidFill>
              <a:srgbClr val="17212B"/>
            </a:solidFill>
            <a:prstDash val="solid"/>
          </a:ln>
        </p:spPr>
      </p:sp>
      <p:sp>
        <p:nvSpPr>
          <p:cNvPr id="10" name="Text 8"/>
          <p:cNvSpPr/>
          <p:nvPr/>
        </p:nvSpPr>
        <p:spPr>
          <a:xfrm>
            <a:off x="6400800" y="1907480"/>
            <a:ext cx="51277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IBM Plex Sans" pitchFamily="34" charset="0"/>
                <a:ea typeface="IBM Plex Sans" pitchFamily="34" charset="-122"/>
                <a:cs typeface="IBM Plex Sans" pitchFamily="34" charset="-120"/>
              </a:rPr>
              <a:t>Models, tools and papers</a:t>
            </a:r>
            <a:endParaRPr lang="en-US" sz="1600" dirty="0"/>
          </a:p>
        </p:txBody>
      </p:sp>
      <p:sp>
        <p:nvSpPr>
          <p:cNvPr id="11" name="Text 9"/>
          <p:cNvSpPr/>
          <p:nvPr/>
        </p:nvSpPr>
        <p:spPr>
          <a:xfrm>
            <a:off x="6400800" y="2278311"/>
            <a:ext cx="512775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12B"/>
                </a:solidFill>
                <a:latin typeface="IBM Plex Sans" pitchFamily="34" charset="0"/>
                <a:ea typeface="IBM Plex Sans" pitchFamily="34" charset="-122"/>
                <a:cs typeface="IBM Plex Sans" pitchFamily="34" charset="-120"/>
              </a:rPr>
              <a:t>Qwen Team. Qwen2.5 Technical Report. arXiv 2412.15115, 2024.</a:t>
            </a:r>
            <a:endParaRPr lang="en-US" sz="1200" dirty="0"/>
          </a:p>
        </p:txBody>
      </p:sp>
      <p:sp>
        <p:nvSpPr>
          <p:cNvPr id="12" name="Text 10"/>
          <p:cNvSpPr/>
          <p:nvPr/>
        </p:nvSpPr>
        <p:spPr>
          <a:xfrm>
            <a:off x="6400800" y="2626271"/>
            <a:ext cx="512775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12B"/>
                </a:solidFill>
                <a:latin typeface="IBM Plex Sans" pitchFamily="34" charset="0"/>
                <a:ea typeface="IBM Plex Sans" pitchFamily="34" charset="-122"/>
                <a:cs typeface="IBM Plex Sans" pitchFamily="34" charset="-120"/>
              </a:rPr>
              <a:t>Ollama, ollama.com, for running the model locally, and Pydantic, docs.pydantic.dev, for validating the JSON answers.</a:t>
            </a:r>
            <a:endParaRPr lang="en-US" sz="1200" dirty="0"/>
          </a:p>
        </p:txBody>
      </p:sp>
      <p:sp>
        <p:nvSpPr>
          <p:cNvPr id="13" name="Text 11"/>
          <p:cNvSpPr/>
          <p:nvPr/>
        </p:nvSpPr>
        <p:spPr>
          <a:xfrm>
            <a:off x="6400800" y="3195191"/>
            <a:ext cx="512775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12B"/>
                </a:solidFill>
                <a:latin typeface="IBM Plex Sans" pitchFamily="34" charset="0"/>
                <a:ea typeface="IBM Plex Sans" pitchFamily="34" charset="-122"/>
                <a:cs typeface="IBM Plex Sans" pitchFamily="34" charset="-120"/>
              </a:rPr>
              <a:t>Li T, et al. CancerGPT for few shot drug pair synergy prediction using large pretrained language models. npj Digital Medicine, 2024.</a:t>
            </a:r>
            <a:endParaRPr lang="en-US" sz="1200" dirty="0"/>
          </a:p>
        </p:txBody>
      </p:sp>
      <p:sp>
        <p:nvSpPr>
          <p:cNvPr id="14" name="Text 12"/>
          <p:cNvSpPr/>
          <p:nvPr/>
        </p:nvSpPr>
        <p:spPr>
          <a:xfrm>
            <a:off x="6400800" y="3764111"/>
            <a:ext cx="512775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12B"/>
                </a:solidFill>
                <a:latin typeface="IBM Plex Sans" pitchFamily="34" charset="0"/>
                <a:ea typeface="IBM Plex Sans" pitchFamily="34" charset="-122"/>
                <a:cs typeface="IBM Plex Sans" pitchFamily="34" charset="-120"/>
              </a:rPr>
              <a:t>Course Module 13 (prompting) and Practices 1–3, lectures 2.2, 4.1, 8.2 and 10.2, and Series 9 and 11.</a:t>
            </a:r>
            <a:endParaRPr lang="en-US" sz="1200" dirty="0"/>
          </a:p>
        </p:txBody>
      </p:sp>
      <p:sp>
        <p:nvSpPr>
          <p:cNvPr id="15" name="Text 1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772"/>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theme/theme1.xml><?xml version="1.0" encoding="utf-8"?>
<a:theme xmlns:a="http://schemas.openxmlformats.org/drawingml/2006/main" name="Classifying ED Visits with an LLM">
  <a:themeElements>
    <a:clrScheme name="Classifying ED Visits with an LLM">
      <a:dk1>
        <a:srgbClr val="17212B"/>
      </a:dk1>
      <a:lt1>
        <a:srgbClr val="F5F4F0"/>
      </a:lt1>
      <a:dk2>
        <a:srgbClr val="4F565C"/>
      </a:dk2>
      <a:lt2>
        <a:srgbClr val="DFDFDC"/>
      </a:lt2>
      <a:accent1>
        <a:srgbClr val="0E6E6C"/>
      </a:accent1>
      <a:accent2>
        <a:srgbClr val="6ECFC5"/>
      </a:accent2>
      <a:accent3>
        <a:srgbClr val="5C6772"/>
      </a:accent3>
      <a:accent4>
        <a:srgbClr val="3A4651"/>
      </a:accent4>
      <a:accent5>
        <a:srgbClr val="C8CED3"/>
      </a:accent5>
      <a:accent6>
        <a:srgbClr val="8F9AA4"/>
      </a:accent6>
      <a:hlink>
        <a:srgbClr val="0563C1"/>
      </a:hlink>
      <a:folHlink>
        <a:srgbClr val="954F72"/>
      </a:folHlink>
    </a:clrScheme>
    <a:fontScheme name="Classifying ED Visits with an LLM">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Classifying ED Visits with an LLM</dc:title>
  <dc:subject/>
  <dc:creator/>
  <cp:lastModifiedBy/>
  <cp:revision>1</cp:revision>
  <dcterms:created xsi:type="dcterms:W3CDTF">2026-10-14T13:50:01Z</dcterms:created>
  <dcterms:modified xsi:type="dcterms:W3CDTF">2026-10-14T13:50:01Z</dcterms:modified>
</cp:coreProperties>
</file>